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7"/>
  </p:notesMasterIdLst>
  <p:sldIdLst>
    <p:sldId id="256" r:id="rId2"/>
    <p:sldId id="257" r:id="rId3"/>
    <p:sldId id="271" r:id="rId4"/>
    <p:sldId id="258" r:id="rId5"/>
    <p:sldId id="259" r:id="rId6"/>
    <p:sldId id="260" r:id="rId7"/>
    <p:sldId id="272" r:id="rId8"/>
    <p:sldId id="261" r:id="rId9"/>
    <p:sldId id="268" r:id="rId10"/>
    <p:sldId id="262" r:id="rId11"/>
    <p:sldId id="264" r:id="rId12"/>
    <p:sldId id="266" r:id="rId13"/>
    <p:sldId id="267" r:id="rId14"/>
    <p:sldId id="269" r:id="rId15"/>
    <p:sldId id="270" r:id="rId16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B4D43B-E23B-4CE8-ACF4-9B257867A99E}" v="90" dt="2026-09-10T17:49:38.4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7652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959978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32290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20769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139734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432760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59804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1675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59791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28865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315434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32559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9257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13108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5.png"/><Relationship Id="rId4" Type="http://schemas.openxmlformats.org/officeDocument/2006/relationships/image" Target="../media/image10.png"/><Relationship Id="rId9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4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28.png"/><Relationship Id="rId9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3839" y="66848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C94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AZURE  CLOUD  ·  DATA  ENGINEERING  PROJECT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93839" y="1354282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Consumption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 Pipeline</a:t>
            </a:r>
            <a:endParaRPr lang="en-US" sz="4600" dirty="0"/>
          </a:p>
        </p:txBody>
      </p:sp>
      <p:sp>
        <p:nvSpPr>
          <p:cNvPr id="13" name="Shape 7"/>
          <p:cNvSpPr/>
          <p:nvPr/>
        </p:nvSpPr>
        <p:spPr>
          <a:xfrm>
            <a:off x="493839" y="3845607"/>
            <a:ext cx="11185855" cy="2092036"/>
          </a:xfrm>
          <a:prstGeom prst="roundRect">
            <a:avLst>
              <a:gd name="adj" fmla="val 8000"/>
            </a:avLst>
          </a:prstGeom>
          <a:solidFill>
            <a:srgbClr val="13294B">
              <a:alpha val="55000"/>
            </a:srgbClr>
          </a:solidFill>
          <a:ln w="12700">
            <a:solidFill>
              <a:srgbClr val="3D5C8C">
                <a:alpha val="6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14" name="Text 8"/>
          <p:cNvSpPr txBox="1"/>
          <p:nvPr/>
        </p:nvSpPr>
        <p:spPr>
          <a:xfrm>
            <a:off x="868680" y="4185597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50" dirty="0"/>
          </a:p>
        </p:txBody>
      </p:sp>
      <p:sp>
        <p:nvSpPr>
          <p:cNvPr id="15" name="Shape 9"/>
          <p:cNvSpPr/>
          <p:nvPr/>
        </p:nvSpPr>
        <p:spPr>
          <a:xfrm>
            <a:off x="868065" y="5613343"/>
            <a:ext cx="2156384" cy="0"/>
          </a:xfrm>
          <a:prstGeom prst="line">
            <a:avLst/>
          </a:prstGeom>
          <a:noFill/>
          <a:ln w="12700">
            <a:solidFill>
              <a:srgbClr val="3D5C8C">
                <a:alpha val="7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0"/>
          <p:cNvSpPr txBox="1"/>
          <p:nvPr/>
        </p:nvSpPr>
        <p:spPr>
          <a:xfrm>
            <a:off x="868065" y="5294169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49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Kummari Maneendra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3398675" y="5617499"/>
            <a:ext cx="2156384" cy="0"/>
          </a:xfrm>
          <a:prstGeom prst="line">
            <a:avLst/>
          </a:prstGeom>
          <a:noFill/>
          <a:ln w="12700">
            <a:solidFill>
              <a:srgbClr val="3D5C8C">
                <a:alpha val="7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2"/>
          <p:cNvSpPr txBox="1"/>
          <p:nvPr/>
        </p:nvSpPr>
        <p:spPr>
          <a:xfrm>
            <a:off x="3398675" y="5286030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49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Neha Mahajan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5929285" y="5609187"/>
            <a:ext cx="2156384" cy="0"/>
          </a:xfrm>
          <a:prstGeom prst="line">
            <a:avLst/>
          </a:prstGeom>
          <a:noFill/>
          <a:ln w="12700">
            <a:solidFill>
              <a:srgbClr val="3D5C8C">
                <a:alpha val="7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4"/>
          <p:cNvSpPr txBox="1"/>
          <p:nvPr/>
        </p:nvSpPr>
        <p:spPr>
          <a:xfrm>
            <a:off x="3398675" y="4605598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i="1" dirty="0">
                <a:solidFill>
                  <a:srgbClr val="849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Bharathi R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6081685" y="5286896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 err="1">
                <a:solidFill>
                  <a:srgbClr val="849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Vailada</a:t>
            </a:r>
            <a:r>
              <a:rPr lang="en-US" sz="1300" i="1" dirty="0">
                <a:solidFill>
                  <a:srgbClr val="849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Balaji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849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CONSUMPTION FORECASTING PIPELINE</a:t>
            </a:r>
            <a:endParaRPr lang="en-US" sz="900" dirty="0"/>
          </a:p>
        </p:txBody>
      </p:sp>
      <p:sp>
        <p:nvSpPr>
          <p:cNvPr id="24" name="Text 18"/>
          <p:cNvSpPr txBox="1"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900">
                <a:solidFill>
                  <a:srgbClr val="8494AE"/>
                </a:solidFill>
                <a:latin typeface="Calibri"/>
              </a:defRPr>
            </a:pPr>
            <a:r>
              <a:t>01</a:t>
            </a:r>
            <a:endParaRPr lang="en-US" sz="900" dirty="0"/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1DEC60EE-7B0B-3371-F920-D3A6E3E7966B}"/>
              </a:ext>
            </a:extLst>
          </p:cNvPr>
          <p:cNvSpPr txBox="1"/>
          <p:nvPr/>
        </p:nvSpPr>
        <p:spPr>
          <a:xfrm>
            <a:off x="868680" y="4705177"/>
            <a:ext cx="2156384" cy="365760"/>
          </a:xfrm>
          <a:prstGeom prst="rect">
            <a:avLst/>
          </a:prstGeom>
          <a:solidFill>
            <a:srgbClr val="0070C0">
              <a:alpha val="0"/>
            </a:srgbClr>
          </a:solidFill>
          <a:ln/>
        </p:spPr>
        <p:txBody>
          <a:bodyPr wrap="square" lIns="0" tIns="0" rIns="0" bIns="0" rtlCol="0" anchor="ctr"/>
          <a:lstStyle/>
          <a:p>
            <a:r>
              <a:rPr lang="en-US" sz="1300" i="1" dirty="0" err="1">
                <a:solidFill>
                  <a:srgbClr val="849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Gokavarapu</a:t>
            </a:r>
            <a:r>
              <a:rPr lang="en-US" sz="1300" i="1" dirty="0">
                <a:solidFill>
                  <a:srgbClr val="849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Venkatesh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28" name="Shape 15">
            <a:extLst>
              <a:ext uri="{FF2B5EF4-FFF2-40B4-BE49-F238E27FC236}">
                <a16:creationId xmlns:a16="http://schemas.microsoft.com/office/drawing/2014/main" id="{225ADE2A-7C97-E2ED-AA54-95FCAB7AA02B}"/>
              </a:ext>
            </a:extLst>
          </p:cNvPr>
          <p:cNvSpPr/>
          <p:nvPr/>
        </p:nvSpPr>
        <p:spPr>
          <a:xfrm>
            <a:off x="868065" y="4937760"/>
            <a:ext cx="2156384" cy="0"/>
          </a:xfrm>
          <a:prstGeom prst="line">
            <a:avLst/>
          </a:prstGeom>
          <a:noFill/>
          <a:ln w="12700">
            <a:solidFill>
              <a:srgbClr val="3D5C8C">
                <a:alpha val="70000"/>
              </a:srgbClr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30" name="Shape 15">
            <a:extLst>
              <a:ext uri="{FF2B5EF4-FFF2-40B4-BE49-F238E27FC236}">
                <a16:creationId xmlns:a16="http://schemas.microsoft.com/office/drawing/2014/main" id="{31D77051-E08A-3698-BF1D-CDDF43F1DA2D}"/>
              </a:ext>
            </a:extLst>
          </p:cNvPr>
          <p:cNvSpPr/>
          <p:nvPr/>
        </p:nvSpPr>
        <p:spPr>
          <a:xfrm>
            <a:off x="5929285" y="4937760"/>
            <a:ext cx="2156384" cy="0"/>
          </a:xfrm>
          <a:prstGeom prst="line">
            <a:avLst/>
          </a:prstGeom>
          <a:noFill/>
          <a:ln w="12700">
            <a:solidFill>
              <a:srgbClr val="3D5C8C">
                <a:alpha val="7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15">
            <a:extLst>
              <a:ext uri="{FF2B5EF4-FFF2-40B4-BE49-F238E27FC236}">
                <a16:creationId xmlns:a16="http://schemas.microsoft.com/office/drawing/2014/main" id="{86E41A76-8DDE-50B0-ABB0-B1D74E48DC20}"/>
              </a:ext>
            </a:extLst>
          </p:cNvPr>
          <p:cNvSpPr/>
          <p:nvPr/>
        </p:nvSpPr>
        <p:spPr>
          <a:xfrm>
            <a:off x="3398675" y="4937760"/>
            <a:ext cx="2156384" cy="0"/>
          </a:xfrm>
          <a:prstGeom prst="line">
            <a:avLst/>
          </a:prstGeom>
          <a:noFill/>
          <a:ln w="12700">
            <a:solidFill>
              <a:srgbClr val="3D5C8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16">
            <a:extLst>
              <a:ext uri="{FF2B5EF4-FFF2-40B4-BE49-F238E27FC236}">
                <a16:creationId xmlns:a16="http://schemas.microsoft.com/office/drawing/2014/main" id="{8838FA4F-2AF3-D396-C0B4-4EEF3461213D}"/>
              </a:ext>
            </a:extLst>
          </p:cNvPr>
          <p:cNvSpPr txBox="1"/>
          <p:nvPr/>
        </p:nvSpPr>
        <p:spPr>
          <a:xfrm>
            <a:off x="6081685" y="4605598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49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Sakthivel 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INTRODUCTION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6537960" cy="4892040"/>
          </a:xfrm>
          <a:prstGeom prst="roundRect">
            <a:avLst>
              <a:gd name="adj" fmla="val 2243"/>
            </a:avLst>
          </a:prstGeom>
          <a:solidFill>
            <a:srgbClr val="13294B">
              <a:alpha val="65000"/>
            </a:srgbClr>
          </a:solidFill>
          <a:ln w="12700">
            <a:solidFill>
              <a:srgbClr val="3D5C8C">
                <a:alpha val="6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Does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57400"/>
            <a:ext cx="5897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A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Energy Consumption Forecasting Pipeline is an end-to-end, fully Azure-native data engineering solution. It ingests raw energy usage, device metrics, grid load, weather and tariff &amp; billing data through Azure Data Factory into Azure Data Lake Storage Gen2, then refines it through a Databricks Lakehouse medallion architecture (Bronze → Silver → Gold).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37560"/>
            <a:ext cx="5897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A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 are modeled with dbt, workflows are orchestrated with Apache Airflow, and analytics-ready Gold data powers Databricks SQL dashboards — giving stakeholders a governed, forecast-ready view of energy demand. Slack keeps the team informed of pipeline health in real time.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0" y="1371600"/>
            <a:ext cx="4370832" cy="4892040"/>
          </a:xfrm>
          <a:prstGeom prst="roundRect">
            <a:avLst>
              <a:gd name="adj" fmla="val 2510"/>
            </a:avLst>
          </a:prstGeom>
          <a:solidFill>
            <a:srgbClr val="1B3357">
              <a:alpha val="70000"/>
            </a:srgbClr>
          </a:solidFill>
          <a:ln w="12700">
            <a:solidFill>
              <a:srgbClr val="3D5C8C">
                <a:alpha val="6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7635240" y="16002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Goals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772400" y="2084832"/>
            <a:ext cx="402336" cy="402336"/>
          </a:xfrm>
          <a:prstGeom prst="ellipse">
            <a:avLst/>
          </a:prstGeom>
          <a:solidFill>
            <a:srgbClr val="2EC4B6">
              <a:alpha val="82000"/>
            </a:srgbClr>
          </a:solidFill>
          <a:ln w="12700">
            <a:solidFill>
              <a:srgbClr val="2EC4B6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0" descr="/home/claude/icons/check_2EC4B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7007" y="2189439"/>
            <a:ext cx="193121" cy="193121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275320" y="2084832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A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Reliably ingest &amp; store raw CSV data from multiple source systems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772400" y="2871216"/>
            <a:ext cx="402336" cy="402336"/>
          </a:xfrm>
          <a:prstGeom prst="ellipse">
            <a:avLst/>
          </a:prstGeom>
          <a:solidFill>
            <a:srgbClr val="2EC4B6">
              <a:alpha val="82000"/>
            </a:srgbClr>
          </a:solidFill>
          <a:ln w="12700">
            <a:solidFill>
              <a:srgbClr val="2EC4B6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4" name="Image 1" descr="/home/claude/icons/check_2EC4B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7007" y="2975823"/>
            <a:ext cx="193121" cy="193121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8275320" y="2871216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A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validate &amp; standardize data using a medallion architecture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772400" y="3657600"/>
            <a:ext cx="402336" cy="402336"/>
          </a:xfrm>
          <a:prstGeom prst="ellipse">
            <a:avLst/>
          </a:prstGeom>
          <a:solidFill>
            <a:srgbClr val="2EC4B6">
              <a:alpha val="82000"/>
            </a:srgbClr>
          </a:solidFill>
          <a:ln w="12700">
            <a:solidFill>
              <a:srgbClr val="2EC4B6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7" name="Image 2" descr="/home/claude/icons/check_2EC4B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7007" y="3762207"/>
            <a:ext cx="193121" cy="19312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275320" y="36576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A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ingestion and orchestration end-to-end on Azure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772400" y="4443984"/>
            <a:ext cx="402336" cy="402336"/>
          </a:xfrm>
          <a:prstGeom prst="ellipse">
            <a:avLst/>
          </a:prstGeom>
          <a:solidFill>
            <a:srgbClr val="2EC4B6">
              <a:alpha val="82000"/>
            </a:srgbClr>
          </a:solidFill>
          <a:ln w="12700">
            <a:solidFill>
              <a:srgbClr val="2EC4B6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0" name="Image 3" descr="/home/claude/icons/check_2EC4B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7007" y="4548591"/>
            <a:ext cx="193121" cy="19312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275320" y="4443984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A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analytics-ready Gold data for forecasting dashboards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7772400" y="5230368"/>
            <a:ext cx="402336" cy="402336"/>
          </a:xfrm>
          <a:prstGeom prst="ellipse">
            <a:avLst/>
          </a:prstGeom>
          <a:solidFill>
            <a:srgbClr val="2EC4B6">
              <a:alpha val="82000"/>
            </a:srgbClr>
          </a:solidFill>
          <a:ln w="12700">
            <a:solidFill>
              <a:srgbClr val="2EC4B6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3" name="Image 4" descr="/home/claude/icons/check_2EC4B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7007" y="5334975"/>
            <a:ext cx="193121" cy="193121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8275320" y="5230368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A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Proactively monitor pipeline health with Slack alerting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849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CONSUMPTION FORECASTING PIPELINE</a:t>
            </a:r>
            <a:endParaRPr lang="en-US" sz="900" dirty="0"/>
          </a:p>
        </p:txBody>
      </p:sp>
      <p:sp>
        <p:nvSpPr>
          <p:cNvPr id="26" name="Text 19"/>
          <p:cNvSpPr txBox="1"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900">
                <a:solidFill>
                  <a:srgbClr val="8494AE"/>
                </a:solidFill>
                <a:latin typeface="Calibri"/>
              </a:defRPr>
            </a:pPr>
            <a: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676656"/>
            <a:ext cx="1078992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5F7FA"/>
                </a:solidFill>
                <a:latin typeface="Cambria"/>
              </a:defRPr>
            </a:pPr>
            <a:r>
              <a:rPr sz="3000" dirty="0"/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8494AE"/>
                </a:solidFill>
                <a:latin typeface="Calibri"/>
              </a:defRPr>
            </a:pPr>
            <a:r>
              <a:t>ENERGY CONSUMPTION FORECASTING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8494AE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400000" cy="4846320"/>
          </a:xfrm>
          <a:prstGeom prst="roundRect">
            <a:avLst/>
          </a:prstGeom>
          <a:solidFill>
            <a:srgbClr val="13294B"/>
          </a:solidFill>
          <a:ln w="12700">
            <a:solidFill>
              <a:srgbClr val="3D5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0837" y="1958235"/>
            <a:ext cx="4900000" cy="4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2994A"/>
                </a:solidFill>
                <a:latin typeface="Cambria"/>
              </a:defRPr>
            </a:pPr>
            <a:r>
              <a:rPr dirty="0"/>
              <a:t>The Energy Grid &amp; Business Challenges</a:t>
            </a:r>
          </a:p>
          <a:p>
            <a:pPr>
              <a:spcAft>
                <a:spcPts val="1400"/>
              </a:spcAft>
              <a:defRPr sz="1200">
                <a:solidFill>
                  <a:srgbClr val="AAB8CF"/>
                </a:solidFill>
                <a:latin typeface="Calibri"/>
              </a:defRPr>
            </a:pPr>
            <a:r>
              <a:rPr dirty="0"/>
              <a:t>Operational vulnerabilities confronting modern power distribution utilities:</a:t>
            </a:r>
          </a:p>
          <a:p>
            <a:pPr>
              <a:spcAft>
                <a:spcPts val="200"/>
              </a:spcAft>
              <a:defRPr sz="1300" b="1">
                <a:solidFill>
                  <a:srgbClr val="F5F7FA"/>
                </a:solidFill>
                <a:latin typeface="Calibri"/>
              </a:defRPr>
            </a:pPr>
            <a:r>
              <a:rPr dirty="0"/>
              <a:t>•  Unpredictable Demand Volatility</a:t>
            </a:r>
          </a:p>
          <a:p>
            <a:pPr>
              <a:spcAft>
                <a:spcPts val="1000"/>
              </a:spcAft>
              <a:defRPr sz="1150">
                <a:solidFill>
                  <a:srgbClr val="AAB8CF"/>
                </a:solidFill>
                <a:latin typeface="Calibri"/>
              </a:defRPr>
            </a:pPr>
            <a:r>
              <a:rPr dirty="0"/>
              <a:t>    Extreme weather fluctuations, sudden heatwaves/cold snaps, and uncoordinated EV charging create steep, erratic spikes in consumer power consumption.</a:t>
            </a:r>
          </a:p>
          <a:p>
            <a:pPr>
              <a:spcAft>
                <a:spcPts val="200"/>
              </a:spcAft>
              <a:defRPr sz="1300" b="1">
                <a:solidFill>
                  <a:srgbClr val="F5F7FA"/>
                </a:solidFill>
                <a:latin typeface="Calibri"/>
              </a:defRPr>
            </a:pPr>
            <a:r>
              <a:rPr dirty="0"/>
              <a:t>•  Grid Instability &amp; Peaking Strain</a:t>
            </a:r>
          </a:p>
          <a:p>
            <a:pPr>
              <a:spcAft>
                <a:spcPts val="1000"/>
              </a:spcAft>
              <a:defRPr sz="1150">
                <a:solidFill>
                  <a:srgbClr val="AAB8CF"/>
                </a:solidFill>
                <a:latin typeface="Calibri"/>
              </a:defRPr>
            </a:pPr>
            <a:r>
              <a:rPr dirty="0"/>
              <a:t>    Substations and feeder lines frequently experience localized overload during peak demand periods, risking transformer failure and rolling brownouts.</a:t>
            </a:r>
          </a:p>
          <a:p>
            <a:pPr>
              <a:spcAft>
                <a:spcPts val="200"/>
              </a:spcAft>
              <a:defRPr sz="1300" b="1">
                <a:solidFill>
                  <a:srgbClr val="F5F7FA"/>
                </a:solidFill>
                <a:latin typeface="Calibri"/>
              </a:defRPr>
            </a:pPr>
            <a:r>
              <a:rPr dirty="0"/>
              <a:t>•  Excessive Standby Reserve Costs</a:t>
            </a:r>
          </a:p>
          <a:p>
            <a:pPr>
              <a:spcAft>
                <a:spcPts val="1000"/>
              </a:spcAft>
              <a:defRPr sz="1150">
                <a:solidFill>
                  <a:srgbClr val="AAB8CF"/>
                </a:solidFill>
                <a:latin typeface="Calibri"/>
              </a:defRPr>
            </a:pPr>
            <a:r>
              <a:rPr dirty="0"/>
              <a:t>    Without precise forward-looking demand estimates, utilities over-procure expensive standby generation on spot markets, driving up operating costs.</a:t>
            </a:r>
          </a:p>
          <a:p>
            <a:pPr>
              <a:spcAft>
                <a:spcPts val="200"/>
              </a:spcAft>
              <a:defRPr sz="1300" b="1">
                <a:solidFill>
                  <a:srgbClr val="F5F7FA"/>
                </a:solidFill>
                <a:latin typeface="Calibri"/>
              </a:defRPr>
            </a:pPr>
            <a:r>
              <a:rPr dirty="0"/>
              <a:t>•  Delayed Reactive Decision-Making</a:t>
            </a:r>
          </a:p>
          <a:p>
            <a:pPr>
              <a:spcAft>
                <a:spcPts val="1000"/>
              </a:spcAft>
              <a:defRPr sz="1150">
                <a:solidFill>
                  <a:srgbClr val="AAB8CF"/>
                </a:solidFill>
                <a:latin typeface="Calibri"/>
              </a:defRPr>
            </a:pPr>
            <a:r>
              <a:rPr dirty="0"/>
              <a:t>    Grid operators traditionally rely on historical averages rather than near-real-time predictive forecasts, hindering dynamic load-shedding and tariff balancing.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89200" y="1417320"/>
            <a:ext cx="5400000" cy="4846320"/>
          </a:xfrm>
          <a:prstGeom prst="roundRect">
            <a:avLst/>
          </a:prstGeom>
          <a:solidFill>
            <a:srgbClr val="1B3357"/>
          </a:solidFill>
          <a:ln w="12700">
            <a:solidFill>
              <a:srgbClr val="3D5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39200" y="1958235"/>
            <a:ext cx="4900000" cy="4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EC4B6"/>
                </a:solidFill>
                <a:latin typeface="Cambria"/>
              </a:defRPr>
            </a:pPr>
            <a:r>
              <a:rPr dirty="0"/>
              <a:t>Data Engineering Bottlenecks &amp; Objective</a:t>
            </a:r>
          </a:p>
          <a:p>
            <a:pPr>
              <a:spcAft>
                <a:spcPts val="1400"/>
              </a:spcAft>
              <a:defRPr sz="1200">
                <a:solidFill>
                  <a:srgbClr val="AAB8CF"/>
                </a:solidFill>
                <a:latin typeface="Calibri"/>
              </a:defRPr>
            </a:pPr>
            <a:r>
              <a:rPr dirty="0"/>
              <a:t>Architectural barriers and the pipeline solution required:</a:t>
            </a:r>
          </a:p>
          <a:p>
            <a:pPr>
              <a:spcAft>
                <a:spcPts val="200"/>
              </a:spcAft>
              <a:defRPr sz="1300" b="1">
                <a:solidFill>
                  <a:srgbClr val="F5F7FA"/>
                </a:solidFill>
                <a:latin typeface="Calibri"/>
              </a:defRPr>
            </a:pPr>
            <a:r>
              <a:rPr dirty="0"/>
              <a:t>•  Siloed &amp; Asynchronous Ingestion</a:t>
            </a:r>
          </a:p>
          <a:p>
            <a:pPr>
              <a:spcAft>
                <a:spcPts val="1000"/>
              </a:spcAft>
              <a:defRPr sz="1150">
                <a:solidFill>
                  <a:srgbClr val="AAB8CF"/>
                </a:solidFill>
                <a:latin typeface="Calibri"/>
              </a:defRPr>
            </a:pPr>
            <a:r>
              <a:rPr dirty="0"/>
              <a:t>    Smart meter telemetry, weather stations, substation sensors, and dynamic tariff rates arrive in heterogeneous formats and distinct velocities.</a:t>
            </a:r>
          </a:p>
          <a:p>
            <a:pPr>
              <a:spcAft>
                <a:spcPts val="200"/>
              </a:spcAft>
              <a:defRPr sz="1300" b="1">
                <a:solidFill>
                  <a:srgbClr val="F5F7FA"/>
                </a:solidFill>
                <a:latin typeface="Calibri"/>
              </a:defRPr>
            </a:pPr>
            <a:r>
              <a:rPr dirty="0"/>
              <a:t>•  Data Quality &amp; Schema Inconsistency</a:t>
            </a:r>
          </a:p>
          <a:p>
            <a:pPr>
              <a:spcAft>
                <a:spcPts val="1000"/>
              </a:spcAft>
              <a:defRPr sz="1150">
                <a:solidFill>
                  <a:srgbClr val="AAB8CF"/>
                </a:solidFill>
                <a:latin typeface="Calibri"/>
              </a:defRPr>
            </a:pPr>
            <a:r>
              <a:rPr dirty="0"/>
              <a:t>    Raw incoming streams contain duplicate device signals, missing sensor readings, unit mismatches, and schema drift that corrupt predictive models.</a:t>
            </a:r>
          </a:p>
          <a:p>
            <a:pPr>
              <a:spcAft>
                <a:spcPts val="200"/>
              </a:spcAft>
              <a:defRPr sz="1300" b="1">
                <a:solidFill>
                  <a:srgbClr val="F5F7FA"/>
                </a:solidFill>
                <a:latin typeface="Calibri"/>
              </a:defRPr>
            </a:pPr>
            <a:r>
              <a:rPr dirty="0"/>
              <a:t>•  Lack of Unified Medallion Lakehouse</a:t>
            </a:r>
          </a:p>
          <a:p>
            <a:pPr>
              <a:spcAft>
                <a:spcPts val="1000"/>
              </a:spcAft>
              <a:defRPr sz="1150">
                <a:solidFill>
                  <a:srgbClr val="AAB8CF"/>
                </a:solidFill>
                <a:latin typeface="Calibri"/>
              </a:defRPr>
            </a:pPr>
            <a:r>
              <a:rPr dirty="0"/>
              <a:t>    Absence of a standardized Bronze → Silver → Gold progression prevents auditable lineage, versioning, and fast ad-hoc analytics.</a:t>
            </a:r>
          </a:p>
          <a:p>
            <a:pPr>
              <a:spcAft>
                <a:spcPts val="200"/>
              </a:spcAft>
              <a:defRPr sz="1300" b="1">
                <a:solidFill>
                  <a:srgbClr val="F5F7FA"/>
                </a:solidFill>
                <a:latin typeface="Calibri"/>
              </a:defRPr>
            </a:pPr>
            <a:r>
              <a:rPr dirty="0"/>
              <a:t>•  Pipeline Objective &amp; Mission</a:t>
            </a:r>
          </a:p>
          <a:p>
            <a:pPr>
              <a:spcAft>
                <a:spcPts val="1000"/>
              </a:spcAft>
              <a:defRPr sz="1150">
                <a:solidFill>
                  <a:srgbClr val="AAB8CF"/>
                </a:solidFill>
                <a:latin typeface="Calibri"/>
              </a:defRPr>
            </a:pPr>
            <a:r>
              <a:rPr dirty="0"/>
              <a:t>    Build an automated, resilient Azure Databricks Lakehouse with </a:t>
            </a:r>
            <a:r>
              <a:rPr dirty="0" err="1"/>
              <a:t>dbt</a:t>
            </a:r>
            <a:r>
              <a:rPr dirty="0"/>
              <a:t> and Airflow to extract, cleanse, and curate forecast-ready energy datasets powering executive SQL dashboards.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STACK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502152" cy="2148840"/>
          </a:xfrm>
          <a:prstGeom prst="roundRect">
            <a:avLst>
              <a:gd name="adj" fmla="val 5106"/>
            </a:avLst>
          </a:prstGeom>
          <a:solidFill>
            <a:srgbClr val="13294B">
              <a:alpha val="65000"/>
            </a:srgbClr>
          </a:solidFill>
          <a:ln w="12700">
            <a:solidFill>
              <a:srgbClr val="3D5C8C">
                <a:alpha val="6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76656" y="1591056"/>
            <a:ext cx="566928" cy="566928"/>
          </a:xfrm>
          <a:prstGeom prst="ellipse">
            <a:avLst/>
          </a:prstGeom>
          <a:solidFill>
            <a:srgbClr val="F2994A">
              <a:alpha val="82000"/>
            </a:srgbClr>
          </a:solidFill>
          <a:ln w="12700">
            <a:solidFill>
              <a:srgbClr val="F2994A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/home/claude/icons/workflow_F299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57" y="1738457"/>
            <a:ext cx="272125" cy="2721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600200"/>
            <a:ext cx="2496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 &amp; Orchestration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286000"/>
            <a:ext cx="29535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✦"/>
            </a:pPr>
            <a:r>
              <a:rPr lang="en-US" sz="1080" dirty="0">
                <a:solidFill>
                  <a:srgbClr val="AA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Data Factory — ingestion, copy activity &amp; pipeline scheduling</a:t>
            </a:r>
            <a:endParaRPr lang="en-US" sz="1080" dirty="0"/>
          </a:p>
          <a:p>
            <a:pPr marL="203200" indent="-203200">
              <a:spcAft>
                <a:spcPts val="600"/>
              </a:spcAft>
              <a:buSzPct val="100000"/>
              <a:buChar char="✦"/>
            </a:pPr>
            <a:r>
              <a:rPr lang="en-US" sz="1080" dirty="0">
                <a:solidFill>
                  <a:srgbClr val="AA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 — DAG-based workflow orchestration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178808" y="1417320"/>
            <a:ext cx="3502152" cy="2148840"/>
          </a:xfrm>
          <a:prstGeom prst="roundRect">
            <a:avLst>
              <a:gd name="adj" fmla="val 5106"/>
            </a:avLst>
          </a:prstGeom>
          <a:solidFill>
            <a:srgbClr val="13294B">
              <a:alpha val="65000"/>
            </a:srgbClr>
          </a:solidFill>
          <a:ln w="12700">
            <a:solidFill>
              <a:srgbClr val="3D5C8C">
                <a:alpha val="6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4352544" y="1591056"/>
            <a:ext cx="566928" cy="566928"/>
          </a:xfrm>
          <a:prstGeom prst="ellipse">
            <a:avLst/>
          </a:prstGeom>
          <a:solidFill>
            <a:srgbClr val="2EC4B6">
              <a:alpha val="82000"/>
            </a:srgbClr>
          </a:solidFill>
          <a:ln w="12700">
            <a:solidFill>
              <a:srgbClr val="2EC4B6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1" descr="/home/claude/icons/database_2EC4B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9945" y="1738457"/>
            <a:ext cx="272125" cy="27212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001768" y="1600200"/>
            <a:ext cx="2496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Layer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4453128" y="2286000"/>
            <a:ext cx="29535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 sz="1200">
                <a:solidFill>
                  <a:srgbClr val="AAB8CF"/>
                </a:solidFill>
                <a:latin typeface="Calibri"/>
              </a:defRPr>
            </a:pPr>
            <a:r>
              <a:t>Azure Data Lake Storage Gen2 — raw &amp; parquet zones (/raw, /target)</a:t>
            </a:r>
          </a:p>
          <a:p>
            <a:pPr>
              <a:defRPr sz="1100">
                <a:solidFill>
                  <a:srgbClr val="2EC4B6"/>
                </a:solidFill>
                <a:latin typeface="Calibri"/>
              </a:defRPr>
            </a:pPr>
            <a:r>
              <a:t>Unity Catalog External Locations — credential-less access path via Managed Identity</a:t>
            </a:r>
          </a:p>
        </p:txBody>
      </p:sp>
      <p:sp>
        <p:nvSpPr>
          <p:cNvPr id="14" name="Shape 10"/>
          <p:cNvSpPr/>
          <p:nvPr/>
        </p:nvSpPr>
        <p:spPr>
          <a:xfrm>
            <a:off x="7854696" y="1417320"/>
            <a:ext cx="3502152" cy="2148840"/>
          </a:xfrm>
          <a:prstGeom prst="roundRect">
            <a:avLst>
              <a:gd name="adj" fmla="val 5106"/>
            </a:avLst>
          </a:prstGeom>
          <a:solidFill>
            <a:srgbClr val="13294B">
              <a:alpha val="65000"/>
            </a:srgbClr>
          </a:solidFill>
          <a:ln w="12700">
            <a:solidFill>
              <a:srgbClr val="3D5C8C">
                <a:alpha val="6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8028432" y="1591056"/>
            <a:ext cx="566928" cy="566928"/>
          </a:xfrm>
          <a:prstGeom prst="ellipse">
            <a:avLst/>
          </a:prstGeom>
          <a:solidFill>
            <a:srgbClr val="F2C94C">
              <a:alpha val="82000"/>
            </a:srgbClr>
          </a:solidFill>
          <a:ln w="12700">
            <a:solidFill>
              <a:srgbClr val="F2C94C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2" descr="/home/claude/icons/layers_F2C94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5833" y="1738457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677656" y="1600200"/>
            <a:ext cx="2496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 &amp; Transformation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8129016" y="2286000"/>
            <a:ext cx="29535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 sz="1200">
                <a:solidFill>
                  <a:srgbClr val="AAB8CF"/>
                </a:solidFill>
                <a:latin typeface="Calibri"/>
              </a:defRPr>
            </a:pPr>
            <a:r>
              <a:t>Databricks Lakehouse — Spark &amp; Auto Loader ingestion via External Locations</a:t>
            </a:r>
          </a:p>
          <a:p>
            <a:pPr>
              <a:defRPr sz="1100">
                <a:solidFill>
                  <a:srgbClr val="AAB8CF"/>
                </a:solidFill>
                <a:latin typeface="Calibri"/>
              </a:defRPr>
            </a:pPr>
            <a:r>
              <a:t>dbt — SQL modeling, testing &amp; lineage across Bronze, Silver and Gold</a:t>
            </a:r>
          </a:p>
        </p:txBody>
      </p:sp>
      <p:sp>
        <p:nvSpPr>
          <p:cNvPr id="19" name="Shape 14"/>
          <p:cNvSpPr/>
          <p:nvPr/>
        </p:nvSpPr>
        <p:spPr>
          <a:xfrm>
            <a:off x="2340864" y="3767328"/>
            <a:ext cx="3502152" cy="2148840"/>
          </a:xfrm>
          <a:prstGeom prst="roundRect">
            <a:avLst>
              <a:gd name="adj" fmla="val 5106"/>
            </a:avLst>
          </a:prstGeom>
          <a:solidFill>
            <a:srgbClr val="13294B">
              <a:alpha val="65000"/>
            </a:srgbClr>
          </a:solidFill>
          <a:ln w="12700">
            <a:solidFill>
              <a:srgbClr val="3D5C8C">
                <a:alpha val="6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2514600" y="3941064"/>
            <a:ext cx="566928" cy="566928"/>
          </a:xfrm>
          <a:prstGeom prst="ellipse">
            <a:avLst/>
          </a:prstGeom>
          <a:solidFill>
            <a:srgbClr val="7C4DFF">
              <a:alpha val="82000"/>
            </a:srgbClr>
          </a:solidFill>
          <a:ln w="12700">
            <a:solidFill>
              <a:srgbClr val="7C4DFF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Image 3" descr="/home/claude/icons/barchart_7C4D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2001" y="4088465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3163824" y="3950208"/>
            <a:ext cx="2496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&amp; BI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2615184" y="4636008"/>
            <a:ext cx="29535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✦"/>
            </a:pPr>
            <a:r>
              <a:rPr lang="en-US" sz="1080" dirty="0">
                <a:solidFill>
                  <a:srgbClr val="AA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SQL — ad-hoc queries &amp; data exploration</a:t>
            </a:r>
            <a:endParaRPr lang="en-US" sz="1080" dirty="0"/>
          </a:p>
          <a:p>
            <a:pPr marL="203200" indent="-203200">
              <a:spcAft>
                <a:spcPts val="600"/>
              </a:spcAft>
              <a:buSzPct val="100000"/>
              <a:buChar char="✦"/>
            </a:pPr>
            <a:r>
              <a:rPr lang="en-US" sz="1080" dirty="0">
                <a:solidFill>
                  <a:srgbClr val="AA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Dashboards — interactive reporting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6016752" y="3767328"/>
            <a:ext cx="3502152" cy="2148840"/>
          </a:xfrm>
          <a:prstGeom prst="roundRect">
            <a:avLst>
              <a:gd name="adj" fmla="val 5106"/>
            </a:avLst>
          </a:prstGeom>
          <a:solidFill>
            <a:srgbClr val="13294B">
              <a:alpha val="65000"/>
            </a:srgbClr>
          </a:solidFill>
          <a:ln w="12700">
            <a:solidFill>
              <a:srgbClr val="3D5C8C">
                <a:alpha val="6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19"/>
          <p:cNvSpPr/>
          <p:nvPr/>
        </p:nvSpPr>
        <p:spPr>
          <a:xfrm>
            <a:off x="6190488" y="3941064"/>
            <a:ext cx="566928" cy="566928"/>
          </a:xfrm>
          <a:prstGeom prst="ellipse">
            <a:avLst/>
          </a:prstGeom>
          <a:solidFill>
            <a:srgbClr val="E85D4A">
              <a:alpha val="82000"/>
            </a:srgbClr>
          </a:solidFill>
          <a:ln w="12700">
            <a:solidFill>
              <a:srgbClr val="E85D4A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6" name="Image 4" descr="/home/claude/icons/slack_E85D4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7889" y="4088465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839712" y="3950208"/>
            <a:ext cx="2496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&amp; Alerts</a:t>
            </a:r>
            <a:endParaRPr lang="en-US" sz="1450" dirty="0"/>
          </a:p>
        </p:txBody>
      </p:sp>
      <p:sp>
        <p:nvSpPr>
          <p:cNvPr id="28" name="Text 21"/>
          <p:cNvSpPr txBox="1"/>
          <p:nvPr/>
        </p:nvSpPr>
        <p:spPr>
          <a:xfrm>
            <a:off x="6291072" y="4636008"/>
            <a:ext cx="29535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✦"/>
            </a:pPr>
            <a:r>
              <a:rPr lang="en-US" sz="1080" dirty="0">
                <a:solidFill>
                  <a:srgbClr val="AA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— pipeline, job &amp; data-quality notifications</a:t>
            </a:r>
            <a:endParaRPr lang="en-US" sz="1080" dirty="0"/>
          </a:p>
        </p:txBody>
      </p:sp>
      <p:sp>
        <p:nvSpPr>
          <p:cNvPr id="29" name="Text 22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849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CONSUMPTION FORECASTING PIPELINE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900">
                <a:solidFill>
                  <a:srgbClr val="8494AE"/>
                </a:solidFill>
                <a:latin typeface="Calibri"/>
              </a:defRPr>
            </a:pPr>
            <a: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High-Level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70164" y="1161288"/>
            <a:ext cx="8451367" cy="5440680"/>
          </a:xfrm>
          <a:prstGeom prst="roundRect">
            <a:avLst>
              <a:gd name="adj" fmla="val 1345"/>
            </a:avLst>
          </a:prstGeom>
          <a:solidFill>
            <a:srgbClr val="13294B">
              <a:alpha val="40000"/>
            </a:srgbClr>
          </a:solidFill>
          <a:ln w="12700">
            <a:solidFill>
              <a:srgbClr val="3D5C8C">
                <a:alpha val="6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Image 0" descr="/mnt/user-data/uploads/ECFP_Architectur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324" y="1298448"/>
            <a:ext cx="8177047" cy="51663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849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CONSUMPTION FORECASTING PIPELINE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900">
                <a:solidFill>
                  <a:srgbClr val="8494AE"/>
                </a:solidFill>
                <a:latin typeface="Calibri"/>
              </a:defRPr>
            </a:pPr>
            <a: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02920" y="676656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Low-Level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5528" y="1591056"/>
            <a:ext cx="0" cy="4704588"/>
          </a:xfrm>
          <a:prstGeom prst="line">
            <a:avLst/>
          </a:prstGeom>
          <a:noFill/>
          <a:ln w="19050">
            <a:solidFill>
              <a:srgbClr val="3D5C8C"/>
            </a:solidFill>
            <a:prstDash val="sysDot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94360" y="1389888"/>
            <a:ext cx="402336" cy="402336"/>
          </a:xfrm>
          <a:prstGeom prst="ellipse">
            <a:avLst/>
          </a:prstGeom>
          <a:solidFill>
            <a:srgbClr val="F2994A">
              <a:alpha val="90000"/>
            </a:srgbClr>
          </a:solidFill>
          <a:ln w="25400">
            <a:solidFill>
              <a:srgbClr val="0A172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94360" y="1389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207008" y="1298448"/>
            <a:ext cx="10744200" cy="553212"/>
          </a:xfrm>
          <a:prstGeom prst="roundRect">
            <a:avLst>
              <a:gd name="adj" fmla="val 13223"/>
            </a:avLst>
          </a:prstGeom>
          <a:solidFill>
            <a:srgbClr val="13294B">
              <a:alpha val="45000"/>
            </a:srgbClr>
          </a:solidFill>
          <a:ln w="12700">
            <a:solidFill>
              <a:srgbClr val="3D5C8C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426464" y="1383030"/>
            <a:ext cx="384048" cy="384048"/>
          </a:xfrm>
          <a:prstGeom prst="ellipse">
            <a:avLst/>
          </a:prstGeom>
          <a:solidFill>
            <a:srgbClr val="F2994A">
              <a:alpha val="82000"/>
            </a:srgbClr>
          </a:solidFill>
          <a:ln w="12700">
            <a:solidFill>
              <a:srgbClr val="F2994A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0" descr="/home/claude/icons/csv_F299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6316" y="1482882"/>
            <a:ext cx="184343" cy="184343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938528" y="1344168"/>
            <a:ext cx="306324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CSV Files</a:t>
            </a:r>
            <a:endParaRPr lang="en-US" sz="1220" dirty="0"/>
          </a:p>
        </p:txBody>
      </p:sp>
      <p:sp>
        <p:nvSpPr>
          <p:cNvPr id="11" name="Text 8"/>
          <p:cNvSpPr txBox="1"/>
          <p:nvPr/>
        </p:nvSpPr>
        <p:spPr>
          <a:xfrm>
            <a:off x="5047488" y="1344168"/>
            <a:ext cx="67665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30" dirty="0">
                <a:solidFill>
                  <a:schemeClr val="tx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energy_usage, device_metrics, grid_load, weather, tariff_billing</a:t>
            </a:r>
            <a:endParaRPr lang="en-US" sz="1030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12" name="Shape 9"/>
          <p:cNvSpPr/>
          <p:nvPr/>
        </p:nvSpPr>
        <p:spPr>
          <a:xfrm>
            <a:off x="594360" y="2061972"/>
            <a:ext cx="402336" cy="402336"/>
          </a:xfrm>
          <a:prstGeom prst="ellipse">
            <a:avLst/>
          </a:prstGeom>
          <a:solidFill>
            <a:srgbClr val="F2994A">
              <a:alpha val="90000"/>
            </a:srgbClr>
          </a:solidFill>
          <a:ln w="25400">
            <a:solidFill>
              <a:srgbClr val="0A172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 txBox="1"/>
          <p:nvPr/>
        </p:nvSpPr>
        <p:spPr>
          <a:xfrm>
            <a:off x="594360" y="20619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207008" y="1970532"/>
            <a:ext cx="10744200" cy="553212"/>
          </a:xfrm>
          <a:prstGeom prst="roundRect">
            <a:avLst>
              <a:gd name="adj" fmla="val 13223"/>
            </a:avLst>
          </a:prstGeom>
          <a:solidFill>
            <a:srgbClr val="13294B">
              <a:alpha val="45000"/>
            </a:srgbClr>
          </a:solidFill>
          <a:ln w="12700">
            <a:solidFill>
              <a:srgbClr val="3D5C8C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1426464" y="2055114"/>
            <a:ext cx="384048" cy="384048"/>
          </a:xfrm>
          <a:prstGeom prst="ellipse">
            <a:avLst/>
          </a:prstGeom>
          <a:solidFill>
            <a:srgbClr val="F2994A">
              <a:alpha val="82000"/>
            </a:srgbClr>
          </a:solidFill>
          <a:ln w="12700">
            <a:solidFill>
              <a:srgbClr val="F2994A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1" descr="/home/claude/icons/factory_F299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6316" y="2154966"/>
            <a:ext cx="184343" cy="184343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938528" y="2016252"/>
            <a:ext cx="306324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ADF Copy Activity → ADLS /raw/</a:t>
            </a:r>
            <a:endParaRPr lang="en-US" sz="1220" dirty="0"/>
          </a:p>
        </p:txBody>
      </p:sp>
      <p:sp>
        <p:nvSpPr>
          <p:cNvPr id="18" name="Text 14"/>
          <p:cNvSpPr txBox="1"/>
          <p:nvPr/>
        </p:nvSpPr>
        <p:spPr>
          <a:xfrm>
            <a:off x="5047488" y="2016252"/>
            <a:ext cx="67665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30" dirty="0">
                <a:solidFill>
                  <a:schemeClr val="tx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raw files landed as-received; pipeline &amp; dependency management with retry</a:t>
            </a:r>
            <a:endParaRPr lang="en-US" sz="1030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19" name="Shape 15"/>
          <p:cNvSpPr/>
          <p:nvPr/>
        </p:nvSpPr>
        <p:spPr>
          <a:xfrm>
            <a:off x="594360" y="2734056"/>
            <a:ext cx="402336" cy="402336"/>
          </a:xfrm>
          <a:prstGeom prst="ellipse">
            <a:avLst/>
          </a:prstGeom>
          <a:solidFill>
            <a:srgbClr val="F2C94C">
              <a:alpha val="90000"/>
            </a:srgbClr>
          </a:solidFill>
          <a:ln w="25400">
            <a:solidFill>
              <a:srgbClr val="0A172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6"/>
          <p:cNvSpPr txBox="1"/>
          <p:nvPr/>
        </p:nvSpPr>
        <p:spPr>
          <a:xfrm>
            <a:off x="594360" y="2734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1207008" y="2642616"/>
            <a:ext cx="10744200" cy="553212"/>
          </a:xfrm>
          <a:prstGeom prst="roundRect">
            <a:avLst>
              <a:gd name="adj" fmla="val 13223"/>
            </a:avLst>
          </a:prstGeom>
          <a:solidFill>
            <a:srgbClr val="13294B">
              <a:alpha val="45000"/>
            </a:srgbClr>
          </a:solidFill>
          <a:ln w="12700">
            <a:solidFill>
              <a:srgbClr val="3D5C8C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8"/>
          <p:cNvSpPr/>
          <p:nvPr/>
        </p:nvSpPr>
        <p:spPr>
          <a:xfrm>
            <a:off x="1426464" y="2727198"/>
            <a:ext cx="384048" cy="384048"/>
          </a:xfrm>
          <a:prstGeom prst="ellipse">
            <a:avLst/>
          </a:prstGeom>
          <a:solidFill>
            <a:srgbClr val="F2C94C">
              <a:alpha val="82000"/>
            </a:srgbClr>
          </a:solidFill>
          <a:ln w="12700">
            <a:solidFill>
              <a:srgbClr val="F2C94C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3" name="Image 2" descr="/home/claude/icons/route_F2C94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6316" y="2827050"/>
            <a:ext cx="184343" cy="184343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1938528" y="2688336"/>
            <a:ext cx="306324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ADF ELT → ADLS /target/</a:t>
            </a:r>
            <a:endParaRPr lang="en-US" sz="1220" dirty="0"/>
          </a:p>
        </p:txBody>
      </p:sp>
      <p:sp>
        <p:nvSpPr>
          <p:cNvPr id="25" name="Text 20"/>
          <p:cNvSpPr txBox="1"/>
          <p:nvPr/>
        </p:nvSpPr>
        <p:spPr>
          <a:xfrm>
            <a:off x="5047488" y="2688336"/>
            <a:ext cx="67665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30" dirty="0">
                <a:solidFill>
                  <a:schemeClr val="tx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files converted to Parquet for efficient downstream processing</a:t>
            </a:r>
            <a:endParaRPr lang="en-US" sz="1030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26" name="Shape 21"/>
          <p:cNvSpPr/>
          <p:nvPr/>
        </p:nvSpPr>
        <p:spPr>
          <a:xfrm>
            <a:off x="594360" y="3406140"/>
            <a:ext cx="402336" cy="402336"/>
          </a:xfrm>
          <a:prstGeom prst="ellipse">
            <a:avLst/>
          </a:prstGeom>
          <a:solidFill>
            <a:srgbClr val="F2994A">
              <a:alpha val="90000"/>
            </a:srgbClr>
          </a:solidFill>
          <a:ln w="25400">
            <a:solidFill>
              <a:srgbClr val="0A172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2"/>
          <p:cNvSpPr txBox="1"/>
          <p:nvPr/>
        </p:nvSpPr>
        <p:spPr>
          <a:xfrm>
            <a:off x="594360" y="34061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1207008" y="3314700"/>
            <a:ext cx="10744200" cy="553212"/>
          </a:xfrm>
          <a:prstGeom prst="roundRect">
            <a:avLst>
              <a:gd name="adj" fmla="val 13223"/>
            </a:avLst>
          </a:prstGeom>
          <a:solidFill>
            <a:srgbClr val="13294B">
              <a:alpha val="45000"/>
            </a:srgbClr>
          </a:solidFill>
          <a:ln w="12700">
            <a:solidFill>
              <a:srgbClr val="3D5C8C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4"/>
          <p:cNvSpPr/>
          <p:nvPr/>
        </p:nvSpPr>
        <p:spPr>
          <a:xfrm>
            <a:off x="1426464" y="3399282"/>
            <a:ext cx="384048" cy="384048"/>
          </a:xfrm>
          <a:prstGeom prst="ellipse">
            <a:avLst/>
          </a:prstGeom>
          <a:solidFill>
            <a:srgbClr val="F2994A">
              <a:alpha val="82000"/>
            </a:srgbClr>
          </a:solidFill>
          <a:ln w="12700">
            <a:solidFill>
              <a:srgbClr val="F2994A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0" name="Image 3" descr="/home/claude/icons/layers_F2994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6316" y="3499134"/>
            <a:ext cx="184343" cy="184343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1938528" y="3360420"/>
            <a:ext cx="306324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Bronze Layer (Databricks)</a:t>
            </a:r>
            <a:endParaRPr lang="en-US" sz="1220" dirty="0"/>
          </a:p>
        </p:txBody>
      </p:sp>
      <p:sp>
        <p:nvSpPr>
          <p:cNvPr id="32" name="Text 26"/>
          <p:cNvSpPr txBox="1"/>
          <p:nvPr/>
        </p:nvSpPr>
        <p:spPr>
          <a:xfrm>
            <a:off x="5047488" y="3360420"/>
            <a:ext cx="67665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3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5 </a:t>
            </a:r>
            <a:r>
              <a:rPr lang="en-US" sz="1030" dirty="0">
                <a:solidFill>
                  <a:schemeClr val="tx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Delta tables: energy_usage_raw, device_metrics_raw, grid_load_raw, weather_raw, tariff_raw</a:t>
            </a:r>
            <a:endParaRPr lang="en-US" sz="1030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33" name="Shape 27"/>
          <p:cNvSpPr/>
          <p:nvPr/>
        </p:nvSpPr>
        <p:spPr>
          <a:xfrm>
            <a:off x="594360" y="4078224"/>
            <a:ext cx="402336" cy="402336"/>
          </a:xfrm>
          <a:prstGeom prst="ellipse">
            <a:avLst/>
          </a:prstGeom>
          <a:solidFill>
            <a:srgbClr val="2EC4B6">
              <a:alpha val="90000"/>
            </a:srgbClr>
          </a:solidFill>
          <a:ln w="25400">
            <a:solidFill>
              <a:srgbClr val="0A172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28"/>
          <p:cNvSpPr txBox="1"/>
          <p:nvPr/>
        </p:nvSpPr>
        <p:spPr>
          <a:xfrm>
            <a:off x="594360" y="4078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Shape 29"/>
          <p:cNvSpPr/>
          <p:nvPr/>
        </p:nvSpPr>
        <p:spPr>
          <a:xfrm>
            <a:off x="1207008" y="3986784"/>
            <a:ext cx="10744200" cy="553212"/>
          </a:xfrm>
          <a:prstGeom prst="roundRect">
            <a:avLst>
              <a:gd name="adj" fmla="val 13223"/>
            </a:avLst>
          </a:prstGeom>
          <a:solidFill>
            <a:srgbClr val="13294B">
              <a:alpha val="45000"/>
            </a:srgbClr>
          </a:solidFill>
          <a:ln w="12700">
            <a:solidFill>
              <a:srgbClr val="3D5C8C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0"/>
          <p:cNvSpPr/>
          <p:nvPr/>
        </p:nvSpPr>
        <p:spPr>
          <a:xfrm>
            <a:off x="1426464" y="4071366"/>
            <a:ext cx="384048" cy="384048"/>
          </a:xfrm>
          <a:prstGeom prst="ellipse">
            <a:avLst/>
          </a:prstGeom>
          <a:solidFill>
            <a:srgbClr val="2EC4B6">
              <a:alpha val="82000"/>
            </a:srgbClr>
          </a:solidFill>
          <a:ln w="12700">
            <a:solidFill>
              <a:srgbClr val="2EC4B6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7" name="Image 4" descr="/home/claude/icons/filter_2EC4B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6316" y="4171218"/>
            <a:ext cx="184343" cy="184343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938528" y="4032504"/>
            <a:ext cx="306324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 Layer — dbt models</a:t>
            </a:r>
            <a:endParaRPr lang="en-US" sz="1220" dirty="0"/>
          </a:p>
        </p:txBody>
      </p:sp>
      <p:sp>
        <p:nvSpPr>
          <p:cNvPr id="39" name="Text 32"/>
          <p:cNvSpPr txBox="1"/>
          <p:nvPr/>
        </p:nvSpPr>
        <p:spPr>
          <a:xfrm>
            <a:off x="5047488" y="4032504"/>
            <a:ext cx="67665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30" dirty="0">
                <a:solidFill>
                  <a:schemeClr val="tx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· null handling · type standardization · schema &amp; business-rule validation · derived metrics · DQ checks</a:t>
            </a:r>
            <a:endParaRPr lang="en-US" sz="1030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40" name="Shape 33"/>
          <p:cNvSpPr/>
          <p:nvPr/>
        </p:nvSpPr>
        <p:spPr>
          <a:xfrm>
            <a:off x="594360" y="4750308"/>
            <a:ext cx="402336" cy="402336"/>
          </a:xfrm>
          <a:prstGeom prst="ellipse">
            <a:avLst/>
          </a:prstGeom>
          <a:solidFill>
            <a:srgbClr val="F2C94C">
              <a:alpha val="90000"/>
            </a:srgbClr>
          </a:solidFill>
          <a:ln w="25400">
            <a:solidFill>
              <a:srgbClr val="0A172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4"/>
          <p:cNvSpPr txBox="1"/>
          <p:nvPr/>
        </p:nvSpPr>
        <p:spPr>
          <a:xfrm>
            <a:off x="594360" y="47503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42" name="Shape 35"/>
          <p:cNvSpPr/>
          <p:nvPr/>
        </p:nvSpPr>
        <p:spPr>
          <a:xfrm>
            <a:off x="1207008" y="4658868"/>
            <a:ext cx="10744200" cy="553212"/>
          </a:xfrm>
          <a:prstGeom prst="roundRect">
            <a:avLst>
              <a:gd name="adj" fmla="val 13223"/>
            </a:avLst>
          </a:prstGeom>
          <a:solidFill>
            <a:srgbClr val="13294B">
              <a:alpha val="45000"/>
            </a:srgbClr>
          </a:solidFill>
          <a:ln w="12700">
            <a:solidFill>
              <a:srgbClr val="3D5C8C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36"/>
          <p:cNvSpPr/>
          <p:nvPr/>
        </p:nvSpPr>
        <p:spPr>
          <a:xfrm>
            <a:off x="1426464" y="4743450"/>
            <a:ext cx="384048" cy="384048"/>
          </a:xfrm>
          <a:prstGeom prst="ellipse">
            <a:avLst/>
          </a:prstGeom>
          <a:solidFill>
            <a:srgbClr val="F2C94C">
              <a:alpha val="82000"/>
            </a:srgbClr>
          </a:solidFill>
          <a:ln w="12700">
            <a:solidFill>
              <a:srgbClr val="F2C94C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4" name="Image 5" descr="/home/claude/icons/cube_F2C94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6316" y="4843302"/>
            <a:ext cx="184343" cy="184343"/>
          </a:xfrm>
          <a:prstGeom prst="rect">
            <a:avLst/>
          </a:prstGeom>
        </p:spPr>
      </p:pic>
      <p:sp>
        <p:nvSpPr>
          <p:cNvPr id="45" name="Text 37"/>
          <p:cNvSpPr txBox="1"/>
          <p:nvPr/>
        </p:nvSpPr>
        <p:spPr>
          <a:xfrm>
            <a:off x="1938528" y="4704588"/>
            <a:ext cx="306324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 Layer — Star Schema</a:t>
            </a:r>
            <a:endParaRPr lang="en-US" sz="1220" dirty="0"/>
          </a:p>
        </p:txBody>
      </p:sp>
      <p:sp>
        <p:nvSpPr>
          <p:cNvPr id="46" name="Text 38"/>
          <p:cNvSpPr txBox="1"/>
          <p:nvPr/>
        </p:nvSpPr>
        <p:spPr>
          <a:xfrm>
            <a:off x="5047488" y="4704588"/>
            <a:ext cx="67665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30" dirty="0">
                <a:solidFill>
                  <a:schemeClr val="tx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Consumption, Device, Weather, Grid, Cost &amp; Tariff, Historical Projection marts</a:t>
            </a:r>
            <a:endParaRPr lang="en-US" sz="1030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47" name="Shape 39"/>
          <p:cNvSpPr/>
          <p:nvPr/>
        </p:nvSpPr>
        <p:spPr>
          <a:xfrm>
            <a:off x="594360" y="5422392"/>
            <a:ext cx="402336" cy="402336"/>
          </a:xfrm>
          <a:prstGeom prst="ellipse">
            <a:avLst/>
          </a:prstGeom>
          <a:solidFill>
            <a:srgbClr val="7C4DFF">
              <a:alpha val="90000"/>
            </a:srgbClr>
          </a:solidFill>
          <a:ln w="25400">
            <a:solidFill>
              <a:srgbClr val="0A172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0"/>
          <p:cNvSpPr txBox="1"/>
          <p:nvPr/>
        </p:nvSpPr>
        <p:spPr>
          <a:xfrm>
            <a:off x="594360" y="5422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49" name="Shape 41"/>
          <p:cNvSpPr/>
          <p:nvPr/>
        </p:nvSpPr>
        <p:spPr>
          <a:xfrm>
            <a:off x="1207008" y="5330952"/>
            <a:ext cx="10744200" cy="553212"/>
          </a:xfrm>
          <a:prstGeom prst="roundRect">
            <a:avLst>
              <a:gd name="adj" fmla="val 13223"/>
            </a:avLst>
          </a:prstGeom>
          <a:solidFill>
            <a:srgbClr val="13294B">
              <a:alpha val="45000"/>
            </a:srgbClr>
          </a:solidFill>
          <a:ln w="12700">
            <a:solidFill>
              <a:srgbClr val="3D5C8C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Shape 42"/>
          <p:cNvSpPr/>
          <p:nvPr/>
        </p:nvSpPr>
        <p:spPr>
          <a:xfrm>
            <a:off x="1426464" y="5415534"/>
            <a:ext cx="384048" cy="384048"/>
          </a:xfrm>
          <a:prstGeom prst="ellipse">
            <a:avLst/>
          </a:prstGeom>
          <a:solidFill>
            <a:srgbClr val="7C4DFF">
              <a:alpha val="82000"/>
            </a:srgbClr>
          </a:solidFill>
          <a:ln w="12700">
            <a:solidFill>
              <a:srgbClr val="7C4DFF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1" name="Image 6" descr="/home/claude/icons/barchart_7C4D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26316" y="5515386"/>
            <a:ext cx="184343" cy="184343"/>
          </a:xfrm>
          <a:prstGeom prst="rect">
            <a:avLst/>
          </a:prstGeom>
        </p:spPr>
      </p:pic>
      <p:sp>
        <p:nvSpPr>
          <p:cNvPr id="52" name="Text 43"/>
          <p:cNvSpPr txBox="1"/>
          <p:nvPr/>
        </p:nvSpPr>
        <p:spPr>
          <a:xfrm>
            <a:off x="1938528" y="5376672"/>
            <a:ext cx="306324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Databricks SQL / Dashboards</a:t>
            </a:r>
            <a:endParaRPr lang="en-US" sz="1220" dirty="0"/>
          </a:p>
        </p:txBody>
      </p:sp>
      <p:sp>
        <p:nvSpPr>
          <p:cNvPr id="53" name="Text 44"/>
          <p:cNvSpPr txBox="1"/>
          <p:nvPr/>
        </p:nvSpPr>
        <p:spPr>
          <a:xfrm>
            <a:off x="5047488" y="5415534"/>
            <a:ext cx="67665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30" dirty="0">
                <a:solidFill>
                  <a:schemeClr val="tx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queries, interactive dashboards &amp; business insights</a:t>
            </a:r>
            <a:endParaRPr lang="en-US" sz="1030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54" name="Shape 45"/>
          <p:cNvSpPr/>
          <p:nvPr/>
        </p:nvSpPr>
        <p:spPr>
          <a:xfrm>
            <a:off x="594360" y="6094476"/>
            <a:ext cx="402336" cy="402336"/>
          </a:xfrm>
          <a:prstGeom prst="ellipse">
            <a:avLst/>
          </a:prstGeom>
          <a:solidFill>
            <a:srgbClr val="E85D4A">
              <a:alpha val="90000"/>
            </a:srgbClr>
          </a:solidFill>
          <a:ln w="25400">
            <a:solidFill>
              <a:srgbClr val="0A172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46"/>
          <p:cNvSpPr txBox="1"/>
          <p:nvPr/>
        </p:nvSpPr>
        <p:spPr>
          <a:xfrm>
            <a:off x="594360" y="60944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56" name="Shape 47"/>
          <p:cNvSpPr/>
          <p:nvPr/>
        </p:nvSpPr>
        <p:spPr>
          <a:xfrm>
            <a:off x="1207008" y="6003036"/>
            <a:ext cx="10744200" cy="553212"/>
          </a:xfrm>
          <a:prstGeom prst="roundRect">
            <a:avLst>
              <a:gd name="adj" fmla="val 13223"/>
            </a:avLst>
          </a:prstGeom>
          <a:solidFill>
            <a:srgbClr val="13294B">
              <a:alpha val="45000"/>
            </a:srgbClr>
          </a:solidFill>
          <a:ln w="12700">
            <a:solidFill>
              <a:srgbClr val="3D5C8C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Shape 48"/>
          <p:cNvSpPr/>
          <p:nvPr/>
        </p:nvSpPr>
        <p:spPr>
          <a:xfrm>
            <a:off x="1426464" y="6087618"/>
            <a:ext cx="384048" cy="384048"/>
          </a:xfrm>
          <a:prstGeom prst="ellipse">
            <a:avLst/>
          </a:prstGeom>
          <a:solidFill>
            <a:srgbClr val="E85D4A">
              <a:alpha val="82000"/>
            </a:srgbClr>
          </a:solidFill>
          <a:ln w="12700">
            <a:solidFill>
              <a:srgbClr val="E85D4A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8" name="Image 7" descr="/home/claude/icons/bell_E85D4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26316" y="6187470"/>
            <a:ext cx="184343" cy="184343"/>
          </a:xfrm>
          <a:prstGeom prst="rect">
            <a:avLst/>
          </a:prstGeom>
        </p:spPr>
      </p:pic>
      <p:sp>
        <p:nvSpPr>
          <p:cNvPr id="59" name="Text 49"/>
          <p:cNvSpPr txBox="1"/>
          <p:nvPr/>
        </p:nvSpPr>
        <p:spPr>
          <a:xfrm>
            <a:off x="1938528" y="6048756"/>
            <a:ext cx="306324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Airflow Orchestration + Slack Alerts</a:t>
            </a:r>
            <a:endParaRPr lang="en-US" sz="1220" dirty="0"/>
          </a:p>
        </p:txBody>
      </p:sp>
      <p:sp>
        <p:nvSpPr>
          <p:cNvPr id="60" name="Text 50"/>
          <p:cNvSpPr txBox="1"/>
          <p:nvPr/>
        </p:nvSpPr>
        <p:spPr>
          <a:xfrm>
            <a:off x="5047488" y="6048756"/>
            <a:ext cx="67665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30" dirty="0">
                <a:solidFill>
                  <a:schemeClr val="tx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DAGs schedule every stage; Slack notified on failures, DQ issues &amp; daily summary</a:t>
            </a:r>
            <a:endParaRPr lang="en-US" sz="1030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61" name="Text 51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849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CONSUMPTION FORECASTING PIPELINE</a:t>
            </a:r>
            <a:endParaRPr lang="en-US" sz="900" dirty="0"/>
          </a:p>
        </p:txBody>
      </p:sp>
      <p:sp>
        <p:nvSpPr>
          <p:cNvPr id="62" name="Text 52"/>
          <p:cNvSpPr txBox="1"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900">
                <a:solidFill>
                  <a:srgbClr val="8494AE"/>
                </a:solidFill>
                <a:latin typeface="Calibri"/>
              </a:defRPr>
            </a:pPr>
            <a: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2994A"/>
                </a:solidFill>
                <a:latin typeface="Calibri"/>
              </a:defRPr>
            </a:pPr>
            <a:r>
              <a:t>04 — DATABRICKS LAKEHOUSE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107899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5F7FA"/>
                </a:solidFill>
                <a:latin typeface="Cambria"/>
              </a:defRPr>
            </a:pPr>
            <a:r>
              <a:t>Medallion Architecture — Layer Tables &amp; Schemas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8494AE"/>
                </a:solidFill>
                <a:latin typeface="Calibri"/>
              </a:defRPr>
            </a:pPr>
            <a:r>
              <a:t>ENERGY CONSUMPTION FORECASTING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8494AE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3500000" cy="4846320"/>
          </a:xfrm>
          <a:prstGeom prst="roundRect">
            <a:avLst/>
          </a:prstGeom>
          <a:solidFill>
            <a:srgbClr val="3A2410"/>
          </a:solidFill>
          <a:ln w="12700">
            <a:solidFill>
              <a:srgbClr val="3D5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9080" y="1888266"/>
            <a:ext cx="3060000" cy="3352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2994A"/>
                </a:solidFill>
                <a:latin typeface="Calibri"/>
              </a:defRPr>
            </a:pPr>
            <a:r>
              <a:rPr dirty="0"/>
              <a:t>BRONZE LAYER</a:t>
            </a:r>
          </a:p>
          <a:p>
            <a:pPr>
              <a:spcAft>
                <a:spcPts val="600"/>
              </a:spcAft>
              <a:defRPr sz="1600" b="1">
                <a:solidFill>
                  <a:srgbClr val="F5F7FA"/>
                </a:solidFill>
                <a:latin typeface="Cambria"/>
              </a:defRPr>
            </a:pPr>
            <a:r>
              <a:rPr dirty="0"/>
              <a:t>Raw Ingestion Tables (5)</a:t>
            </a:r>
          </a:p>
          <a:p>
            <a:pPr>
              <a:spcAft>
                <a:spcPts val="1600"/>
              </a:spcAft>
              <a:defRPr sz="1000" b="1">
                <a:solidFill>
                  <a:srgbClr val="F2994A"/>
                </a:solidFill>
                <a:latin typeface="Calibri"/>
              </a:defRPr>
            </a:pPr>
            <a:r>
              <a:rPr dirty="0"/>
              <a:t>Extracted via Unity Catalog External Location (ADLS Gen2 /target/)</a:t>
            </a:r>
          </a:p>
          <a:p>
            <a:pPr>
              <a:spcAft>
                <a:spcPts val="1400"/>
              </a:spcAft>
              <a:defRPr sz="1300" b="1">
                <a:solidFill>
                  <a:srgbClr val="F5F7FA"/>
                </a:solidFill>
                <a:latin typeface="Consolas"/>
              </a:defRPr>
            </a:pPr>
            <a:r>
              <a:rPr dirty="0"/>
              <a:t>  •  </a:t>
            </a:r>
            <a:r>
              <a:rPr dirty="0" err="1"/>
              <a:t>device_metrics</a:t>
            </a:r>
            <a:endParaRPr dirty="0"/>
          </a:p>
          <a:p>
            <a:pPr>
              <a:spcAft>
                <a:spcPts val="1400"/>
              </a:spcAft>
              <a:defRPr sz="1300" b="1">
                <a:solidFill>
                  <a:srgbClr val="F5F7FA"/>
                </a:solidFill>
                <a:latin typeface="Consolas"/>
              </a:defRPr>
            </a:pPr>
            <a:r>
              <a:rPr dirty="0"/>
              <a:t>  •  </a:t>
            </a:r>
            <a:r>
              <a:rPr dirty="0" err="1"/>
              <a:t>energy_usage_stream</a:t>
            </a:r>
            <a:endParaRPr dirty="0"/>
          </a:p>
          <a:p>
            <a:pPr>
              <a:spcAft>
                <a:spcPts val="1400"/>
              </a:spcAft>
              <a:defRPr sz="1300" b="1">
                <a:solidFill>
                  <a:srgbClr val="F5F7FA"/>
                </a:solidFill>
                <a:latin typeface="Consolas"/>
              </a:defRPr>
            </a:pPr>
            <a:r>
              <a:rPr dirty="0"/>
              <a:t>  •  </a:t>
            </a:r>
            <a:r>
              <a:rPr dirty="0" err="1"/>
              <a:t>grid_load_stream</a:t>
            </a:r>
            <a:endParaRPr dirty="0"/>
          </a:p>
          <a:p>
            <a:pPr>
              <a:spcAft>
                <a:spcPts val="1400"/>
              </a:spcAft>
              <a:defRPr sz="1300" b="1">
                <a:solidFill>
                  <a:srgbClr val="F5F7FA"/>
                </a:solidFill>
                <a:latin typeface="Consolas"/>
              </a:defRPr>
            </a:pPr>
            <a:r>
              <a:rPr dirty="0"/>
              <a:t>  •  </a:t>
            </a:r>
            <a:r>
              <a:rPr dirty="0" err="1"/>
              <a:t>tariff_metrics</a:t>
            </a:r>
            <a:endParaRPr dirty="0"/>
          </a:p>
          <a:p>
            <a:pPr>
              <a:spcAft>
                <a:spcPts val="1400"/>
              </a:spcAft>
              <a:defRPr sz="1300" b="1">
                <a:solidFill>
                  <a:srgbClr val="F5F7FA"/>
                </a:solidFill>
                <a:latin typeface="Consolas"/>
              </a:defRPr>
            </a:pPr>
            <a:r>
              <a:rPr dirty="0"/>
              <a:t>  •  </a:t>
            </a:r>
            <a:r>
              <a:rPr dirty="0" err="1"/>
              <a:t>weather_source</a:t>
            </a:r>
            <a:endParaRPr dirty="0"/>
          </a:p>
          <a:p>
            <a:br>
              <a:rPr dirty="0"/>
            </a:br>
            <a:endParaRPr dirty="0">
              <a:solidFill>
                <a:schemeClr val="bg2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42920" y="1417320"/>
            <a:ext cx="3500000" cy="4846320"/>
          </a:xfrm>
          <a:prstGeom prst="roundRect">
            <a:avLst/>
          </a:prstGeom>
          <a:solidFill>
            <a:srgbClr val="273542"/>
          </a:solidFill>
          <a:ln w="12700">
            <a:solidFill>
              <a:srgbClr val="3D5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62920" y="1888266"/>
            <a:ext cx="3060000" cy="3352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2EC4B6"/>
                </a:solidFill>
                <a:latin typeface="Calibri"/>
              </a:defRPr>
            </a:pPr>
            <a:r>
              <a:rPr dirty="0"/>
              <a:t>SILVER LAYER</a:t>
            </a:r>
          </a:p>
          <a:p>
            <a:pPr>
              <a:spcAft>
                <a:spcPts val="600"/>
              </a:spcAft>
              <a:defRPr sz="1600" b="1">
                <a:solidFill>
                  <a:srgbClr val="F5F7FA"/>
                </a:solidFill>
                <a:latin typeface="Cambria"/>
              </a:defRPr>
            </a:pPr>
            <a:r>
              <a:rPr dirty="0"/>
              <a:t>Cleansed Staging Tables (5)</a:t>
            </a:r>
          </a:p>
          <a:p>
            <a:pPr>
              <a:spcAft>
                <a:spcPts val="1600"/>
              </a:spcAft>
              <a:defRPr sz="1050" b="1">
                <a:solidFill>
                  <a:srgbClr val="2EC4B6"/>
                </a:solidFill>
                <a:latin typeface="Calibri"/>
              </a:defRPr>
            </a:pPr>
            <a:r>
              <a:rPr dirty="0"/>
              <a:t>Modeled via </a:t>
            </a:r>
            <a:r>
              <a:rPr dirty="0" err="1"/>
              <a:t>dbt</a:t>
            </a:r>
            <a:r>
              <a:rPr dirty="0"/>
              <a:t> Transformations</a:t>
            </a:r>
          </a:p>
          <a:p>
            <a:pPr>
              <a:spcAft>
                <a:spcPts val="1400"/>
              </a:spcAft>
              <a:defRPr sz="1300" b="1">
                <a:solidFill>
                  <a:srgbClr val="F5F7FA"/>
                </a:solidFill>
                <a:latin typeface="Consolas"/>
              </a:defRPr>
            </a:pPr>
            <a:r>
              <a:rPr dirty="0"/>
              <a:t>  •  </a:t>
            </a:r>
            <a:r>
              <a:rPr dirty="0" err="1"/>
              <a:t>stg_device_metrics</a:t>
            </a:r>
            <a:endParaRPr dirty="0"/>
          </a:p>
          <a:p>
            <a:pPr>
              <a:spcAft>
                <a:spcPts val="1400"/>
              </a:spcAft>
              <a:defRPr sz="1300" b="1">
                <a:solidFill>
                  <a:srgbClr val="F5F7FA"/>
                </a:solidFill>
                <a:latin typeface="Consolas"/>
              </a:defRPr>
            </a:pPr>
            <a:r>
              <a:rPr dirty="0"/>
              <a:t>  •  </a:t>
            </a:r>
            <a:r>
              <a:rPr dirty="0" err="1"/>
              <a:t>stg_energy_usage_stream</a:t>
            </a:r>
            <a:endParaRPr dirty="0"/>
          </a:p>
          <a:p>
            <a:pPr>
              <a:spcAft>
                <a:spcPts val="1400"/>
              </a:spcAft>
              <a:defRPr sz="1300" b="1">
                <a:solidFill>
                  <a:srgbClr val="F5F7FA"/>
                </a:solidFill>
                <a:latin typeface="Consolas"/>
              </a:defRPr>
            </a:pPr>
            <a:r>
              <a:rPr dirty="0"/>
              <a:t>  •  </a:t>
            </a:r>
            <a:r>
              <a:rPr dirty="0" err="1"/>
              <a:t>stg_grid_load_stream</a:t>
            </a:r>
            <a:endParaRPr dirty="0"/>
          </a:p>
          <a:p>
            <a:pPr>
              <a:spcAft>
                <a:spcPts val="1400"/>
              </a:spcAft>
              <a:defRPr sz="1300" b="1">
                <a:solidFill>
                  <a:srgbClr val="F5F7FA"/>
                </a:solidFill>
                <a:latin typeface="Consolas"/>
              </a:defRPr>
            </a:pPr>
            <a:r>
              <a:rPr dirty="0"/>
              <a:t>  •  </a:t>
            </a:r>
            <a:r>
              <a:rPr dirty="0" err="1"/>
              <a:t>stg_tariff_metrics</a:t>
            </a:r>
            <a:endParaRPr dirty="0"/>
          </a:p>
          <a:p>
            <a:pPr>
              <a:spcAft>
                <a:spcPts val="1400"/>
              </a:spcAft>
              <a:defRPr sz="1300" b="1">
                <a:solidFill>
                  <a:srgbClr val="F5F7FA"/>
                </a:solidFill>
                <a:latin typeface="Consolas"/>
              </a:defRPr>
            </a:pPr>
            <a:r>
              <a:rPr dirty="0"/>
              <a:t>  •  </a:t>
            </a:r>
            <a:r>
              <a:rPr dirty="0" err="1"/>
              <a:t>stg_weather_source</a:t>
            </a:r>
            <a:endParaRPr dirty="0"/>
          </a:p>
          <a:p>
            <a:br>
              <a:rPr dirty="0"/>
            </a:br>
            <a:endParaRPr dirty="0">
              <a:solidFill>
                <a:schemeClr val="bg2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182920" y="1417320"/>
            <a:ext cx="3500000" cy="484632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3D5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02920" y="1888266"/>
            <a:ext cx="3060000" cy="3377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2C94C"/>
                </a:solidFill>
                <a:latin typeface="Calibri"/>
              </a:defRPr>
            </a:pPr>
            <a:r>
              <a:rPr dirty="0"/>
              <a:t>GOLD LAYER</a:t>
            </a:r>
          </a:p>
          <a:p>
            <a:pPr>
              <a:spcAft>
                <a:spcPts val="600"/>
              </a:spcAft>
              <a:defRPr sz="1600" b="1">
                <a:solidFill>
                  <a:srgbClr val="F5F7FA"/>
                </a:solidFill>
                <a:latin typeface="Cambria"/>
              </a:defRPr>
            </a:pPr>
            <a:r>
              <a:rPr dirty="0"/>
              <a:t>Curated Dimensions &amp; Facts (6)</a:t>
            </a:r>
          </a:p>
          <a:p>
            <a:pPr>
              <a:spcAft>
                <a:spcPts val="1600"/>
              </a:spcAft>
              <a:defRPr sz="1050" b="1">
                <a:solidFill>
                  <a:srgbClr val="F2C94C"/>
                </a:solidFill>
                <a:latin typeface="Calibri"/>
              </a:defRPr>
            </a:pPr>
            <a:r>
              <a:rPr dirty="0"/>
              <a:t>Star Schema Marts (KPIs Excluded)</a:t>
            </a:r>
          </a:p>
          <a:p>
            <a:pPr>
              <a:spcAft>
                <a:spcPts val="1000"/>
              </a:spcAft>
              <a:defRPr sz="1250" b="1">
                <a:solidFill>
                  <a:srgbClr val="F5F7FA"/>
                </a:solidFill>
                <a:latin typeface="Consolas"/>
              </a:defRPr>
            </a:pPr>
            <a:r>
              <a:rPr dirty="0"/>
              <a:t>  •  </a:t>
            </a:r>
            <a:r>
              <a:rPr dirty="0" err="1"/>
              <a:t>dim_feeder</a:t>
            </a:r>
            <a:endParaRPr dirty="0"/>
          </a:p>
          <a:p>
            <a:pPr>
              <a:spcAft>
                <a:spcPts val="1000"/>
              </a:spcAft>
              <a:defRPr sz="1250" b="1">
                <a:solidFill>
                  <a:srgbClr val="F5F7FA"/>
                </a:solidFill>
                <a:latin typeface="Consolas"/>
              </a:defRPr>
            </a:pPr>
            <a:r>
              <a:rPr dirty="0"/>
              <a:t>  •  </a:t>
            </a:r>
            <a:r>
              <a:rPr dirty="0" err="1"/>
              <a:t>dim_household</a:t>
            </a:r>
            <a:endParaRPr dirty="0"/>
          </a:p>
          <a:p>
            <a:pPr>
              <a:spcAft>
                <a:spcPts val="1000"/>
              </a:spcAft>
              <a:defRPr sz="1250" b="1">
                <a:solidFill>
                  <a:srgbClr val="F5F7FA"/>
                </a:solidFill>
                <a:latin typeface="Consolas"/>
              </a:defRPr>
            </a:pPr>
            <a:r>
              <a:rPr dirty="0"/>
              <a:t>  •  </a:t>
            </a:r>
            <a:r>
              <a:rPr dirty="0" err="1"/>
              <a:t>dim_operator</a:t>
            </a:r>
            <a:endParaRPr dirty="0"/>
          </a:p>
          <a:p>
            <a:pPr>
              <a:spcAft>
                <a:spcPts val="1000"/>
              </a:spcAft>
              <a:defRPr sz="1250" b="1">
                <a:solidFill>
                  <a:srgbClr val="F5F7FA"/>
                </a:solidFill>
                <a:latin typeface="Consolas"/>
              </a:defRPr>
            </a:pPr>
            <a:r>
              <a:rPr dirty="0"/>
              <a:t>  •  </a:t>
            </a:r>
            <a:r>
              <a:rPr dirty="0" err="1"/>
              <a:t>dim_substation</a:t>
            </a:r>
            <a:endParaRPr dirty="0"/>
          </a:p>
          <a:p>
            <a:pPr>
              <a:spcAft>
                <a:spcPts val="1000"/>
              </a:spcAft>
              <a:defRPr sz="1250" b="1">
                <a:solidFill>
                  <a:srgbClr val="F5F7FA"/>
                </a:solidFill>
                <a:latin typeface="Consolas"/>
              </a:defRPr>
            </a:pPr>
            <a:r>
              <a:rPr dirty="0"/>
              <a:t>  •  </a:t>
            </a:r>
            <a:r>
              <a:rPr dirty="0" err="1"/>
              <a:t>dim_zone</a:t>
            </a:r>
            <a:endParaRPr dirty="0"/>
          </a:p>
          <a:p>
            <a:pPr>
              <a:spcAft>
                <a:spcPts val="1000"/>
              </a:spcAft>
              <a:defRPr sz="1250" b="1">
                <a:solidFill>
                  <a:srgbClr val="F5F7FA"/>
                </a:solidFill>
                <a:latin typeface="Consolas"/>
              </a:defRPr>
            </a:pPr>
            <a:r>
              <a:rPr dirty="0"/>
              <a:t>  •  </a:t>
            </a:r>
            <a:r>
              <a:rPr dirty="0" err="1"/>
              <a:t>fact_grid_load</a:t>
            </a:r>
            <a:endParaRPr dirty="0"/>
          </a:p>
          <a:p>
            <a:br>
              <a:rPr dirty="0"/>
            </a:br>
            <a:endParaRPr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02920" y="676656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Medallion Architecture — Bronze &amp; Silver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349240" cy="4846320"/>
          </a:xfrm>
          <a:prstGeom prst="roundRect">
            <a:avLst>
              <a:gd name="adj" fmla="val 2264"/>
            </a:avLst>
          </a:prstGeom>
          <a:solidFill>
            <a:srgbClr val="3A2410">
              <a:alpha val="55000"/>
            </a:srgbClr>
          </a:solidFill>
          <a:ln w="12700">
            <a:solidFill>
              <a:srgbClr val="3D5C8C">
                <a:alpha val="6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640080" cy="640080"/>
          </a:xfrm>
          <a:prstGeom prst="ellipse">
            <a:avLst/>
          </a:prstGeom>
          <a:solidFill>
            <a:srgbClr val="F2994A">
              <a:alpha val="82000"/>
            </a:srgbClr>
          </a:solidFill>
          <a:ln w="12700">
            <a:solidFill>
              <a:srgbClr val="F2994A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/home/claude/icons/layers_F299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1" y="17666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645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LAYER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1920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Data Tables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914400" y="3450000"/>
            <a:ext cx="230000" cy="230000"/>
          </a:xfrm>
          <a:prstGeom prst="roundRect">
            <a:avLst>
              <a:gd name="adj" fmla="val 17857"/>
            </a:avLst>
          </a:prstGeom>
          <a:solidFill>
            <a:srgbClr val="F2994A">
              <a:alpha val="7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7"/>
          <p:cNvSpPr txBox="1"/>
          <p:nvPr/>
        </p:nvSpPr>
        <p:spPr>
          <a:xfrm>
            <a:off x="1250000" y="3420000"/>
            <a:ext cx="41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200" b="1">
                <a:solidFill>
                  <a:srgbClr val="F5F7FA"/>
                </a:solidFill>
                <a:latin typeface="Consolas"/>
              </a:defRPr>
            </a:pPr>
            <a:r>
              <a:t>device_metrics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14400" y="3790000"/>
            <a:ext cx="230000" cy="230000"/>
          </a:xfrm>
          <a:prstGeom prst="roundRect">
            <a:avLst>
              <a:gd name="adj" fmla="val 17857"/>
            </a:avLst>
          </a:prstGeom>
          <a:solidFill>
            <a:srgbClr val="F2994A">
              <a:alpha val="7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 txBox="1"/>
          <p:nvPr/>
        </p:nvSpPr>
        <p:spPr>
          <a:xfrm>
            <a:off x="1250000" y="3760000"/>
            <a:ext cx="41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200" b="1">
                <a:solidFill>
                  <a:srgbClr val="F5F7FA"/>
                </a:solidFill>
                <a:latin typeface="Consolas"/>
              </a:defRPr>
            </a:pPr>
            <a:r>
              <a:t>energy_usage_stream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914400" y="4130000"/>
            <a:ext cx="230000" cy="230000"/>
          </a:xfrm>
          <a:prstGeom prst="roundRect">
            <a:avLst>
              <a:gd name="adj" fmla="val 17857"/>
            </a:avLst>
          </a:prstGeom>
          <a:solidFill>
            <a:srgbClr val="F2994A">
              <a:alpha val="7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1"/>
          <p:cNvSpPr txBox="1"/>
          <p:nvPr/>
        </p:nvSpPr>
        <p:spPr>
          <a:xfrm>
            <a:off x="1250000" y="4100000"/>
            <a:ext cx="41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200" b="1">
                <a:solidFill>
                  <a:srgbClr val="F5F7FA"/>
                </a:solidFill>
                <a:latin typeface="Consolas"/>
              </a:defRPr>
            </a:pPr>
            <a:r>
              <a:t>grid_load_stream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914400" y="4470000"/>
            <a:ext cx="230000" cy="230000"/>
          </a:xfrm>
          <a:prstGeom prst="roundRect">
            <a:avLst>
              <a:gd name="adj" fmla="val 17857"/>
            </a:avLst>
          </a:prstGeom>
          <a:solidFill>
            <a:srgbClr val="F2994A">
              <a:alpha val="7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3"/>
          <p:cNvSpPr txBox="1"/>
          <p:nvPr/>
        </p:nvSpPr>
        <p:spPr>
          <a:xfrm>
            <a:off x="1250000" y="4440000"/>
            <a:ext cx="41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200" b="1">
                <a:solidFill>
                  <a:srgbClr val="F5F7FA"/>
                </a:solidFill>
                <a:latin typeface="Consolas"/>
              </a:defRPr>
            </a:pPr>
            <a:r>
              <a:t>tariff_metrics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914400" y="4820000"/>
            <a:ext cx="230000" cy="230000"/>
          </a:xfrm>
          <a:prstGeom prst="roundRect">
            <a:avLst>
              <a:gd name="adj" fmla="val 17857"/>
            </a:avLst>
          </a:prstGeom>
          <a:solidFill>
            <a:srgbClr val="F2994A">
              <a:alpha val="7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5"/>
          <p:cNvSpPr txBox="1"/>
          <p:nvPr/>
        </p:nvSpPr>
        <p:spPr>
          <a:xfrm>
            <a:off x="1250000" y="4780000"/>
            <a:ext cx="41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200" b="1">
                <a:solidFill>
                  <a:srgbClr val="F5F7FA"/>
                </a:solidFill>
                <a:latin typeface="Consolas"/>
              </a:defRPr>
            </a:pPr>
            <a:r>
              <a:t>weather_source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914400" y="5160000"/>
            <a:ext cx="4526280" cy="0"/>
          </a:xfrm>
          <a:prstGeom prst="line">
            <a:avLst/>
          </a:prstGeom>
          <a:noFill/>
          <a:ln w="9525">
            <a:solidFill>
              <a:srgbClr val="F2994A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 txBox="1"/>
          <p:nvPr/>
        </p:nvSpPr>
        <p:spPr>
          <a:xfrm>
            <a:off x="914400" y="5250000"/>
            <a:ext cx="4526280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 sz="1100">
                <a:solidFill>
                  <a:srgbClr val="D8E2F0"/>
                </a:solidFill>
                <a:latin typeface="Calibri"/>
              </a:defRPr>
            </a:pPr>
            <a:r>
              <a:t>Data extracted from ADLS Gen2 (/target/) via Unity Catalog External Locations for secure, keyless access. Auto Loader streams raw parquet files directly into append-only Bronze Delta tables.</a:t>
            </a:r>
            <a:endParaRPr lang="en-US" sz="1200" dirty="0"/>
          </a:p>
        </p:txBody>
      </p:sp>
      <p:pic>
        <p:nvPicPr>
          <p:cNvPr id="21" name="Image 1" descr="/home/claude/icons/route_2EC4B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312" y="3584448"/>
            <a:ext cx="512064" cy="512064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6537960" y="1417320"/>
            <a:ext cx="5150815" cy="4846320"/>
          </a:xfrm>
          <a:prstGeom prst="roundRect">
            <a:avLst>
              <a:gd name="adj" fmla="val 2264"/>
            </a:avLst>
          </a:prstGeom>
          <a:solidFill>
            <a:srgbClr val="273542">
              <a:alpha val="60000"/>
            </a:srgbClr>
          </a:solidFill>
          <a:ln w="12700">
            <a:solidFill>
              <a:srgbClr val="3D5C8C">
                <a:alpha val="6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9"/>
          <p:cNvSpPr/>
          <p:nvPr/>
        </p:nvSpPr>
        <p:spPr>
          <a:xfrm>
            <a:off x="6720840" y="1600200"/>
            <a:ext cx="640080" cy="640080"/>
          </a:xfrm>
          <a:prstGeom prst="ellipse">
            <a:avLst/>
          </a:prstGeom>
          <a:solidFill>
            <a:srgbClr val="2EC4B6">
              <a:alpha val="82000"/>
            </a:srgbClr>
          </a:solidFill>
          <a:ln w="12700">
            <a:solidFill>
              <a:srgbClr val="2EC4B6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4" name="Image 2" descr="/home/claude/icons/filter_2EC4B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7261" y="1766621"/>
            <a:ext cx="307238" cy="307238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7452360" y="1645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LAYER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7452360" y="19202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Cleaned &amp; Processed Data</a:t>
            </a:r>
            <a:endParaRPr lang="en-US" sz="1700" dirty="0"/>
          </a:p>
        </p:txBody>
      </p:sp>
      <p:sp>
        <p:nvSpPr>
          <p:cNvPr id="27" name="Shape 22"/>
          <p:cNvSpPr/>
          <p:nvPr/>
        </p:nvSpPr>
        <p:spPr>
          <a:xfrm>
            <a:off x="6949440" y="2651760"/>
            <a:ext cx="292608" cy="292608"/>
          </a:xfrm>
          <a:prstGeom prst="ellipse">
            <a:avLst/>
          </a:prstGeom>
          <a:solidFill>
            <a:srgbClr val="2EC4B6">
              <a:alpha val="82000"/>
            </a:srgbClr>
          </a:solidFill>
          <a:ln w="12700">
            <a:solidFill>
              <a:srgbClr val="2EC4B6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8" name="Image 3" descr="/home/claude/icons/check_2EC4B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5518" y="2727838"/>
            <a:ext cx="140452" cy="14045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333488" y="26334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9464040" y="2651760"/>
            <a:ext cx="292608" cy="292608"/>
          </a:xfrm>
          <a:prstGeom prst="ellipse">
            <a:avLst/>
          </a:prstGeom>
          <a:solidFill>
            <a:srgbClr val="2EC4B6">
              <a:alpha val="82000"/>
            </a:srgbClr>
          </a:solidFill>
          <a:ln w="12700">
            <a:solidFill>
              <a:srgbClr val="2EC4B6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1" name="Image 4" descr="/home/claude/icons/check_2EC4B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0118" y="2727838"/>
            <a:ext cx="140452" cy="140452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9848088" y="26334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Handling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949440" y="3154680"/>
            <a:ext cx="292608" cy="292608"/>
          </a:xfrm>
          <a:prstGeom prst="ellipse">
            <a:avLst/>
          </a:prstGeom>
          <a:solidFill>
            <a:srgbClr val="2EC4B6">
              <a:alpha val="82000"/>
            </a:srgbClr>
          </a:solidFill>
          <a:ln w="12700">
            <a:solidFill>
              <a:srgbClr val="2EC4B6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4" name="Image 5" descr="/home/claude/icons/check_2EC4B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5518" y="3230758"/>
            <a:ext cx="140452" cy="140452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7333488" y="313639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Standardization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9464040" y="3154680"/>
            <a:ext cx="292608" cy="292608"/>
          </a:xfrm>
          <a:prstGeom prst="ellipse">
            <a:avLst/>
          </a:prstGeom>
          <a:solidFill>
            <a:srgbClr val="2EC4B6">
              <a:alpha val="82000"/>
            </a:srgbClr>
          </a:solidFill>
          <a:ln w="12700">
            <a:solidFill>
              <a:srgbClr val="2EC4B6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7" name="Image 6" descr="/home/claude/icons/check_2EC4B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0118" y="3230758"/>
            <a:ext cx="140452" cy="140452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9848088" y="313639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6949440" y="3657600"/>
            <a:ext cx="292608" cy="292608"/>
          </a:xfrm>
          <a:prstGeom prst="ellipse">
            <a:avLst/>
          </a:prstGeom>
          <a:solidFill>
            <a:srgbClr val="2EC4B6">
              <a:alpha val="82000"/>
            </a:srgbClr>
          </a:solidFill>
          <a:ln w="12700">
            <a:solidFill>
              <a:srgbClr val="2EC4B6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0" name="Image 7" descr="/home/claude/icons/check_2EC4B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5518" y="3733678"/>
            <a:ext cx="140452" cy="140452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7333488" y="363931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Validation</a:t>
            </a:r>
            <a:endParaRPr lang="en-US" sz="1100" dirty="0"/>
          </a:p>
        </p:txBody>
      </p:sp>
      <p:sp>
        <p:nvSpPr>
          <p:cNvPr id="42" name="Shape 32"/>
          <p:cNvSpPr/>
          <p:nvPr/>
        </p:nvSpPr>
        <p:spPr>
          <a:xfrm>
            <a:off x="9464040" y="3657600"/>
            <a:ext cx="292608" cy="292608"/>
          </a:xfrm>
          <a:prstGeom prst="ellipse">
            <a:avLst/>
          </a:prstGeom>
          <a:solidFill>
            <a:srgbClr val="2EC4B6">
              <a:alpha val="82000"/>
            </a:srgbClr>
          </a:solidFill>
          <a:ln w="12700">
            <a:solidFill>
              <a:srgbClr val="2EC4B6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3" name="Image 8" descr="/home/claude/icons/check_2EC4B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0118" y="3733678"/>
            <a:ext cx="140452" cy="140452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9848088" y="363931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Metrics</a:t>
            </a:r>
            <a:endParaRPr lang="en-US" sz="1100" dirty="0"/>
          </a:p>
        </p:txBody>
      </p:sp>
      <p:sp>
        <p:nvSpPr>
          <p:cNvPr id="45" name="Shape 34"/>
          <p:cNvSpPr/>
          <p:nvPr/>
        </p:nvSpPr>
        <p:spPr>
          <a:xfrm>
            <a:off x="6949440" y="4160520"/>
            <a:ext cx="292608" cy="292608"/>
          </a:xfrm>
          <a:prstGeom prst="ellipse">
            <a:avLst/>
          </a:prstGeom>
          <a:solidFill>
            <a:srgbClr val="2EC4B6">
              <a:alpha val="82000"/>
            </a:srgbClr>
          </a:solidFill>
          <a:ln w="12700">
            <a:solidFill>
              <a:srgbClr val="2EC4B6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6" name="Image 9" descr="/home/claude/icons/check_2EC4B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5518" y="4236598"/>
            <a:ext cx="140452" cy="140452"/>
          </a:xfrm>
          <a:prstGeom prst="rect">
            <a:avLst/>
          </a:prstGeom>
        </p:spPr>
      </p:pic>
      <p:sp>
        <p:nvSpPr>
          <p:cNvPr id="47" name="Text 35"/>
          <p:cNvSpPr txBox="1"/>
          <p:nvPr/>
        </p:nvSpPr>
        <p:spPr>
          <a:xfrm>
            <a:off x="7333488" y="414223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Checks</a:t>
            </a:r>
            <a:endParaRPr lang="en-US" sz="1100" dirty="0"/>
          </a:p>
        </p:txBody>
      </p:sp>
      <p:sp>
        <p:nvSpPr>
          <p:cNvPr id="48" name="Shape 36"/>
          <p:cNvSpPr/>
          <p:nvPr/>
        </p:nvSpPr>
        <p:spPr>
          <a:xfrm>
            <a:off x="6949440" y="5029200"/>
            <a:ext cx="4327855" cy="0"/>
          </a:xfrm>
          <a:prstGeom prst="line">
            <a:avLst/>
          </a:prstGeom>
          <a:noFill/>
          <a:ln w="9525">
            <a:solidFill>
              <a:srgbClr val="2EC4B6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37"/>
          <p:cNvSpPr txBox="1"/>
          <p:nvPr/>
        </p:nvSpPr>
        <p:spPr>
          <a:xfrm>
            <a:off x="6949440" y="5166360"/>
            <a:ext cx="43278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AA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Cleaned, validated &amp; standardized data for integration, modeled with dbt. Stored at /silver/.</a:t>
            </a:r>
            <a:endParaRPr lang="en-US" sz="1200" dirty="0"/>
          </a:p>
        </p:txBody>
      </p:sp>
      <p:sp>
        <p:nvSpPr>
          <p:cNvPr id="50" name="Text 38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849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CONSUMPTION FORECASTING PIPELINE</a:t>
            </a:r>
            <a:endParaRPr lang="en-US" sz="900" dirty="0"/>
          </a:p>
        </p:txBody>
      </p:sp>
      <p:sp>
        <p:nvSpPr>
          <p:cNvPr id="51" name="Text 39"/>
          <p:cNvSpPr txBox="1"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900">
                <a:solidFill>
                  <a:srgbClr val="8494AE"/>
                </a:solidFill>
                <a:latin typeface="Calibri"/>
              </a:defRPr>
            </a:pPr>
            <a:r>
              <a:t>08</a:t>
            </a:r>
            <a:endParaRPr lang="en-US" sz="900" dirty="0"/>
          </a:p>
        </p:txBody>
      </p:sp>
      <p:sp>
        <p:nvSpPr>
          <p:cNvPr id="52" name="Rounded Rectangle 51"/>
          <p:cNvSpPr/>
          <p:nvPr/>
        </p:nvSpPr>
        <p:spPr>
          <a:xfrm>
            <a:off x="20000000" y="2300000"/>
            <a:ext cx="4526280" cy="240000"/>
          </a:xfrm>
          <a:prstGeom prst="roundRect">
            <a:avLst/>
          </a:prstGeom>
          <a:solidFill>
            <a:srgbClr val="1B3357"/>
          </a:solidFill>
          <a:ln w="1270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950" b="1">
                <a:solidFill>
                  <a:srgbClr val="F2994A"/>
                </a:solidFill>
                <a:latin typeface="Calibri"/>
              </a:defRPr>
            </a:pPr>
            <a:r>
              <a:t>  ⬡  Data Extracted from ADLS Gen2 (/target/ Parquet Storage)  ➔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20000" y="2280000"/>
            <a:ext cx="4700000" cy="1080000"/>
          </a:xfrm>
          <a:prstGeom prst="roundRect">
            <a:avLst/>
          </a:prstGeom>
          <a:solidFill>
            <a:srgbClr val="1B3357"/>
          </a:solidFill>
          <a:ln w="1400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60000" y="2320000"/>
            <a:ext cx="4600000" cy="8592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F2994A"/>
                </a:solidFill>
                <a:latin typeface="Calibri"/>
              </a:defRPr>
            </a:pPr>
            <a:r>
              <a:rPr dirty="0"/>
              <a:t> ADLS Ingestion via Unity Catalog External Location</a:t>
            </a:r>
          </a:p>
          <a:p>
            <a:pPr>
              <a:spcAft>
                <a:spcPts val="200"/>
              </a:spcAft>
              <a:defRPr sz="950">
                <a:solidFill>
                  <a:srgbClr val="F5F7FA"/>
                </a:solidFill>
                <a:latin typeface="Consolas"/>
              </a:defRPr>
            </a:pPr>
            <a:r>
              <a:rPr dirty="0"/>
              <a:t>• External Location URL: abfss://target@&lt;storage&gt;.dfs.core.windows.net/</a:t>
            </a:r>
          </a:p>
          <a:p>
            <a:pPr>
              <a:spcAft>
                <a:spcPts val="200"/>
              </a:spcAft>
              <a:defRPr sz="1000">
                <a:solidFill>
                  <a:srgbClr val="D8E2F0"/>
                </a:solidFill>
                <a:latin typeface="Calibri"/>
              </a:defRPr>
            </a:pPr>
            <a:r>
              <a:rPr dirty="0"/>
              <a:t>• Storage Credential: Azure Managed Identity (RBAC Blob Contributor, keyless)</a:t>
            </a:r>
          </a:p>
          <a:p>
            <a:pPr>
              <a:defRPr sz="1000">
                <a:solidFill>
                  <a:srgbClr val="D8E2F0"/>
                </a:solidFill>
                <a:latin typeface="Calibri"/>
              </a:defRPr>
            </a:pPr>
            <a:r>
              <a:rPr dirty="0"/>
              <a:t>• Ingestion Engine: Auto Loader (cloud Files) &amp; </a:t>
            </a:r>
            <a:r>
              <a:rPr dirty="0" err="1"/>
              <a:t>PySpark</a:t>
            </a:r>
            <a:r>
              <a:rPr dirty="0"/>
              <a:t> read parquet into Delta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QUALITY ASSURANCE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Validation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0000000" y="1417320"/>
            <a:ext cx="3502152" cy="1965960"/>
          </a:xfrm>
          <a:prstGeom prst="roundRect">
            <a:avLst>
              <a:gd name="adj" fmla="val 5581"/>
            </a:avLst>
          </a:prstGeom>
          <a:solidFill>
            <a:srgbClr val="13294B">
              <a:alpha val="65000"/>
            </a:srgbClr>
          </a:solidFill>
          <a:ln w="12700">
            <a:solidFill>
              <a:srgbClr val="3D5C8C">
                <a:alpha val="6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20000000" y="1636776"/>
            <a:ext cx="566928" cy="566928"/>
          </a:xfrm>
          <a:prstGeom prst="ellipse">
            <a:avLst/>
          </a:prstGeom>
          <a:solidFill>
            <a:srgbClr val="F2C94C">
              <a:alpha val="82000"/>
            </a:srgbClr>
          </a:solidFill>
          <a:ln w="12700">
            <a:solidFill>
              <a:srgbClr val="F2C94C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/home/claude/icons/flask_F2C94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0000" y="1784177"/>
            <a:ext cx="272125" cy="2721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0000000" y="1673352"/>
            <a:ext cx="240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dbt Tests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20000000" y="2331720"/>
            <a:ext cx="3044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AA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Schema, uniqueness, not-null &amp; referential integrity tests on every Silver and Gold model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502920" y="1500000"/>
            <a:ext cx="5400000" cy="2250000"/>
          </a:xfrm>
          <a:prstGeom prst="roundRect">
            <a:avLst>
              <a:gd name="adj" fmla="val 5581"/>
            </a:avLst>
          </a:prstGeom>
          <a:solidFill>
            <a:srgbClr val="13294B">
              <a:alpha val="65000"/>
            </a:srgbClr>
          </a:solidFill>
          <a:ln w="12700">
            <a:solidFill>
              <a:srgbClr val="3D5C8C">
                <a:alpha val="6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752920" y="1750000"/>
            <a:ext cx="566928" cy="566928"/>
          </a:xfrm>
          <a:prstGeom prst="ellipse">
            <a:avLst/>
          </a:prstGeom>
          <a:solidFill>
            <a:srgbClr val="F2C94C">
              <a:alpha val="82000"/>
            </a:srgbClr>
          </a:solidFill>
          <a:ln w="12700">
            <a:solidFill>
              <a:srgbClr val="F2C94C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1" descr="/home/claude/icons/code_F2C94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320" y="1897400"/>
            <a:ext cx="272125" cy="27212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52920" y="1760000"/>
            <a:ext cx="430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700" b="1"/>
            </a:pPr>
            <a:r>
              <a:rPr lang="en-US" sz="135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Unit Tests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752920" y="2450000"/>
            <a:ext cx="4900000" cy="11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  <a:defRPr sz="1300"/>
            </a:pPr>
            <a:r>
              <a:rPr lang="en-US" sz="1030" dirty="0">
                <a:solidFill>
                  <a:srgbClr val="AA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Component-level testing of Azure Data Factory activities and Databricks notebooks</a:t>
            </a:r>
            <a:endParaRPr lang="en-US" sz="1030" dirty="0"/>
          </a:p>
        </p:txBody>
      </p:sp>
      <p:sp>
        <p:nvSpPr>
          <p:cNvPr id="14" name="Shape 10"/>
          <p:cNvSpPr/>
          <p:nvPr/>
        </p:nvSpPr>
        <p:spPr>
          <a:xfrm>
            <a:off x="6289200" y="1500000"/>
            <a:ext cx="5400000" cy="2250000"/>
          </a:xfrm>
          <a:prstGeom prst="roundRect">
            <a:avLst>
              <a:gd name="adj" fmla="val 5581"/>
            </a:avLst>
          </a:prstGeom>
          <a:solidFill>
            <a:srgbClr val="13294B">
              <a:alpha val="65000"/>
            </a:srgbClr>
          </a:solidFill>
          <a:ln w="12700">
            <a:solidFill>
              <a:srgbClr val="3D5C8C">
                <a:alpha val="6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6539200" y="1750000"/>
            <a:ext cx="566928" cy="566928"/>
          </a:xfrm>
          <a:prstGeom prst="ellipse">
            <a:avLst/>
          </a:prstGeom>
          <a:solidFill>
            <a:srgbClr val="F2C94C">
              <a:alpha val="82000"/>
            </a:srgbClr>
          </a:solidFill>
          <a:ln w="12700">
            <a:solidFill>
              <a:srgbClr val="F2C94C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2" descr="/home/claude/icons/shield_F2C94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6600" y="1897400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239200" y="1760000"/>
            <a:ext cx="430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700" b="1"/>
            </a:pPr>
            <a:r>
              <a:rPr lang="en-US" sz="135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Rules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6539200" y="2450000"/>
            <a:ext cx="4900000" cy="11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  <a:defRPr sz="1300"/>
            </a:pPr>
            <a:r>
              <a:rPr lang="en-US" sz="1030" dirty="0">
                <a:solidFill>
                  <a:srgbClr val="AA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of nulls, duplicates, ranges &amp; business rules enforced at the Silver layer</a:t>
            </a:r>
            <a:endParaRPr lang="en-US" sz="1030" dirty="0"/>
          </a:p>
        </p:txBody>
      </p:sp>
      <p:sp>
        <p:nvSpPr>
          <p:cNvPr id="19" name="Shape 14"/>
          <p:cNvSpPr/>
          <p:nvPr/>
        </p:nvSpPr>
        <p:spPr>
          <a:xfrm>
            <a:off x="502920" y="4000000"/>
            <a:ext cx="5400000" cy="2250000"/>
          </a:xfrm>
          <a:prstGeom prst="roundRect">
            <a:avLst>
              <a:gd name="adj" fmla="val 5581"/>
            </a:avLst>
          </a:prstGeom>
          <a:solidFill>
            <a:srgbClr val="13294B">
              <a:alpha val="65000"/>
            </a:srgbClr>
          </a:solidFill>
          <a:ln w="12700">
            <a:solidFill>
              <a:srgbClr val="3D5C8C">
                <a:alpha val="6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752920" y="4250000"/>
            <a:ext cx="566928" cy="566928"/>
          </a:xfrm>
          <a:prstGeom prst="ellipse">
            <a:avLst/>
          </a:prstGeom>
          <a:solidFill>
            <a:srgbClr val="F2C94C">
              <a:alpha val="82000"/>
            </a:srgbClr>
          </a:solidFill>
          <a:ln w="12700">
            <a:solidFill>
              <a:srgbClr val="F2C94C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Image 3" descr="/home/claude/icons/search_F2C94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320" y="4397400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52920" y="4260000"/>
            <a:ext cx="430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700" b="1"/>
            </a:pPr>
            <a:r>
              <a:rPr lang="en-US" sz="135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Reconciliation Checks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752920" y="4950000"/>
            <a:ext cx="4900000" cy="11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  <a:defRPr sz="1300"/>
            </a:pPr>
            <a:r>
              <a:rPr lang="en-US" sz="1030" dirty="0">
                <a:solidFill>
                  <a:srgbClr val="AA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Row-count &amp; value reconciliation between Bronze, Silver and Gold outputs</a:t>
            </a:r>
            <a:endParaRPr lang="en-US" sz="1030" dirty="0"/>
          </a:p>
        </p:txBody>
      </p:sp>
      <p:sp>
        <p:nvSpPr>
          <p:cNvPr id="24" name="Shape 18"/>
          <p:cNvSpPr/>
          <p:nvPr/>
        </p:nvSpPr>
        <p:spPr>
          <a:xfrm>
            <a:off x="6289200" y="4000000"/>
            <a:ext cx="5400000" cy="2250000"/>
          </a:xfrm>
          <a:prstGeom prst="roundRect">
            <a:avLst>
              <a:gd name="adj" fmla="val 5581"/>
            </a:avLst>
          </a:prstGeom>
          <a:solidFill>
            <a:srgbClr val="13294B">
              <a:alpha val="65000"/>
            </a:srgbClr>
          </a:solidFill>
          <a:ln w="12700">
            <a:solidFill>
              <a:srgbClr val="3D5C8C">
                <a:alpha val="6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19"/>
          <p:cNvSpPr/>
          <p:nvPr/>
        </p:nvSpPr>
        <p:spPr>
          <a:xfrm>
            <a:off x="6539200" y="4250000"/>
            <a:ext cx="566928" cy="566928"/>
          </a:xfrm>
          <a:prstGeom prst="ellipse">
            <a:avLst/>
          </a:prstGeom>
          <a:solidFill>
            <a:srgbClr val="F2C94C">
              <a:alpha val="82000"/>
            </a:srgbClr>
          </a:solidFill>
          <a:ln w="12700">
            <a:solidFill>
              <a:srgbClr val="F2C94C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6" name="Image 4" descr="/home/claude/icons/clipboard_F2C94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6600" y="4397400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239200" y="4260000"/>
            <a:ext cx="430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700" b="1"/>
            </a:pPr>
            <a:r>
              <a:rPr lang="en-US" sz="135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Validation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6539200" y="4950000"/>
            <a:ext cx="4900000" cy="11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  <a:defRPr sz="1300"/>
            </a:pPr>
            <a:r>
              <a:rPr lang="en-US" sz="1030" dirty="0">
                <a:solidFill>
                  <a:srgbClr val="AA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run validated in staging before promotion to production</a:t>
            </a:r>
            <a:endParaRPr lang="en-US" sz="1030" dirty="0"/>
          </a:p>
        </p:txBody>
      </p:sp>
      <p:sp>
        <p:nvSpPr>
          <p:cNvPr id="29" name="Shape 22"/>
          <p:cNvSpPr/>
          <p:nvPr/>
        </p:nvSpPr>
        <p:spPr>
          <a:xfrm>
            <a:off x="20000000" y="3584448"/>
            <a:ext cx="3502152" cy="1965960"/>
          </a:xfrm>
          <a:prstGeom prst="roundRect">
            <a:avLst>
              <a:gd name="adj" fmla="val 5581"/>
            </a:avLst>
          </a:prstGeom>
          <a:solidFill>
            <a:srgbClr val="13294B">
              <a:alpha val="65000"/>
            </a:srgbClr>
          </a:solidFill>
          <a:ln w="12700">
            <a:solidFill>
              <a:srgbClr val="3D5C8C">
                <a:alpha val="6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Shape 23"/>
          <p:cNvSpPr/>
          <p:nvPr/>
        </p:nvSpPr>
        <p:spPr>
          <a:xfrm>
            <a:off x="20000000" y="3803904"/>
            <a:ext cx="566928" cy="566928"/>
          </a:xfrm>
          <a:prstGeom prst="ellipse">
            <a:avLst/>
          </a:prstGeom>
          <a:solidFill>
            <a:srgbClr val="F2C94C">
              <a:alpha val="82000"/>
            </a:srgbClr>
          </a:solidFill>
          <a:ln w="12700">
            <a:solidFill>
              <a:srgbClr val="F2C94C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1" name="Image 5" descr="/home/claude/icons/handshake_F2C94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000000" y="3951305"/>
            <a:ext cx="272125" cy="272125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20000000" y="3840480"/>
            <a:ext cx="240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 UAT</a:t>
            </a:r>
            <a:endParaRPr lang="en-US" sz="1350" dirty="0"/>
          </a:p>
        </p:txBody>
      </p:sp>
      <p:sp>
        <p:nvSpPr>
          <p:cNvPr id="33" name="Text 25"/>
          <p:cNvSpPr txBox="1"/>
          <p:nvPr/>
        </p:nvSpPr>
        <p:spPr>
          <a:xfrm>
            <a:off x="20000000" y="4498848"/>
            <a:ext cx="3044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AA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report validation with business stakeholders before sign-off</a:t>
            </a:r>
            <a:endParaRPr lang="en-US" sz="1030" dirty="0"/>
          </a:p>
        </p:txBody>
      </p:sp>
      <p:sp>
        <p:nvSpPr>
          <p:cNvPr id="34" name="Text 26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849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CONSUMPTION FORECASTING PIPELINE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900">
                <a:solidFill>
                  <a:srgbClr val="8494AE"/>
                </a:solidFill>
                <a:latin typeface="Calibri"/>
              </a:defRPr>
            </a:pPr>
            <a:r>
              <a:rPr lang="en-US" dirty="0"/>
              <a:t>09</a:t>
            </a:r>
          </a:p>
          <a:p>
            <a:pPr marL="0" indent="0" algn="r">
              <a:buNone/>
              <a:defRPr sz="900">
                <a:solidFill>
                  <a:srgbClr val="8494AE"/>
                </a:solidFill>
                <a:latin typeface="Calibri"/>
              </a:defRPr>
            </a:pP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02920" y="676656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Medallion Architecture — Gold Layer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5855" cy="1051560"/>
          </a:xfrm>
          <a:prstGeom prst="roundRect">
            <a:avLst>
              <a:gd name="adj" fmla="val 10435"/>
            </a:avLst>
          </a:prstGeom>
          <a:solidFill>
            <a:srgbClr val="3A340F">
              <a:alpha val="60000"/>
            </a:srgbClr>
          </a:solidFill>
          <a:ln w="12700">
            <a:solidFill>
              <a:srgbClr val="3D5C8C">
                <a:alpha val="6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68096" y="1609344"/>
            <a:ext cx="658368" cy="658368"/>
          </a:xfrm>
          <a:prstGeom prst="ellipse">
            <a:avLst/>
          </a:prstGeom>
          <a:solidFill>
            <a:srgbClr val="F2C94C">
              <a:alpha val="82000"/>
            </a:srgbClr>
          </a:solidFill>
          <a:ln w="12700">
            <a:solidFill>
              <a:srgbClr val="F2C94C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/home/claude/icons/cube_F2C94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272" y="1780520"/>
            <a:ext cx="316017" cy="31601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6276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LAYER — Analytics (Star Schema)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1938528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Business-ready analytics &amp; metrics for reporting — stored at /gold/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2920" y="274320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13294B">
              <a:alpha val="65000"/>
            </a:srgbClr>
          </a:solidFill>
          <a:ln w="12700">
            <a:solidFill>
              <a:srgbClr val="3D5C8C">
                <a:alpha val="6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2011680" y="2999232"/>
            <a:ext cx="548640" cy="548640"/>
          </a:xfrm>
          <a:prstGeom prst="ellipse">
            <a:avLst/>
          </a:prstGeom>
          <a:solidFill>
            <a:srgbClr val="F2C94C">
              <a:alpha val="82000"/>
            </a:srgbClr>
          </a:solidFill>
          <a:ln w="12700">
            <a:solidFill>
              <a:srgbClr val="F2C94C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1" descr="/home/claude/icons/barchart_F2C94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4326" y="3141878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85800" y="37033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Analytics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251960" y="274320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13294B">
              <a:alpha val="65000"/>
            </a:srgbClr>
          </a:solidFill>
          <a:ln w="12700">
            <a:solidFill>
              <a:srgbClr val="3D5C8C">
                <a:alpha val="6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0"/>
          <p:cNvSpPr/>
          <p:nvPr/>
        </p:nvSpPr>
        <p:spPr>
          <a:xfrm>
            <a:off x="5760720" y="2999232"/>
            <a:ext cx="548640" cy="548640"/>
          </a:xfrm>
          <a:prstGeom prst="ellipse">
            <a:avLst/>
          </a:prstGeom>
          <a:solidFill>
            <a:srgbClr val="F2C94C">
              <a:alpha val="82000"/>
            </a:srgbClr>
          </a:solidFill>
          <a:ln w="12700">
            <a:solidFill>
              <a:srgbClr val="F2C94C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Image 2" descr="/home/claude/icons/monitor_F2C94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3366" y="3141878"/>
            <a:ext cx="263347" cy="26334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434840" y="37033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Analytics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8001000" y="274320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13294B">
              <a:alpha val="65000"/>
            </a:srgbClr>
          </a:solidFill>
          <a:ln w="12700">
            <a:solidFill>
              <a:srgbClr val="3D5C8C">
                <a:alpha val="6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3"/>
          <p:cNvSpPr/>
          <p:nvPr/>
        </p:nvSpPr>
        <p:spPr>
          <a:xfrm>
            <a:off x="9509760" y="2999232"/>
            <a:ext cx="548640" cy="548640"/>
          </a:xfrm>
          <a:prstGeom prst="ellipse">
            <a:avLst/>
          </a:prstGeom>
          <a:solidFill>
            <a:srgbClr val="F2C94C">
              <a:alpha val="82000"/>
            </a:srgbClr>
          </a:solidFill>
          <a:ln w="12700">
            <a:solidFill>
              <a:srgbClr val="F2C94C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9" name="Image 3" descr="/home/claude/icons/cloudsun_F2C94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2406" y="3141878"/>
            <a:ext cx="263347" cy="263347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183880" y="37033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Impact Analytics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502920" y="434340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13294B">
              <a:alpha val="65000"/>
            </a:srgbClr>
          </a:solidFill>
          <a:ln w="12700">
            <a:solidFill>
              <a:srgbClr val="3D5C8C">
                <a:alpha val="6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16"/>
          <p:cNvSpPr/>
          <p:nvPr/>
        </p:nvSpPr>
        <p:spPr>
          <a:xfrm>
            <a:off x="2011680" y="4599432"/>
            <a:ext cx="548640" cy="548640"/>
          </a:xfrm>
          <a:prstGeom prst="ellipse">
            <a:avLst/>
          </a:prstGeom>
          <a:solidFill>
            <a:srgbClr val="F2C94C">
              <a:alpha val="82000"/>
            </a:srgbClr>
          </a:solidFill>
          <a:ln w="12700">
            <a:solidFill>
              <a:srgbClr val="F2C94C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3" name="Image 4" descr="/home/claude/icons/bolt_F2C94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54326" y="4742078"/>
            <a:ext cx="263347" cy="263347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85800" y="53035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Analytics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4251960" y="434340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13294B">
              <a:alpha val="65000"/>
            </a:srgbClr>
          </a:solidFill>
          <a:ln w="12700">
            <a:solidFill>
              <a:srgbClr val="3D5C8C">
                <a:alpha val="6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19"/>
          <p:cNvSpPr/>
          <p:nvPr/>
        </p:nvSpPr>
        <p:spPr>
          <a:xfrm>
            <a:off x="5760720" y="4599432"/>
            <a:ext cx="548640" cy="548640"/>
          </a:xfrm>
          <a:prstGeom prst="ellipse">
            <a:avLst/>
          </a:prstGeom>
          <a:solidFill>
            <a:srgbClr val="F2C94C">
              <a:alpha val="82000"/>
            </a:srgbClr>
          </a:solidFill>
          <a:ln w="12700">
            <a:solidFill>
              <a:srgbClr val="F2C94C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7" name="Image 5" descr="/home/claude/icons/dollar_F2C94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03366" y="4742078"/>
            <a:ext cx="263347" cy="263347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4434840" y="53035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Tariff Analytics</a:t>
            </a:r>
            <a:endParaRPr lang="en-US" sz="1250" dirty="0"/>
          </a:p>
        </p:txBody>
      </p:sp>
      <p:sp>
        <p:nvSpPr>
          <p:cNvPr id="29" name="Shape 21"/>
          <p:cNvSpPr/>
          <p:nvPr/>
        </p:nvSpPr>
        <p:spPr>
          <a:xfrm>
            <a:off x="8001000" y="434340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13294B">
              <a:alpha val="65000"/>
            </a:srgbClr>
          </a:solidFill>
          <a:ln w="12700">
            <a:solidFill>
              <a:srgbClr val="3D5C8C">
                <a:alpha val="6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Shape 22"/>
          <p:cNvSpPr/>
          <p:nvPr/>
        </p:nvSpPr>
        <p:spPr>
          <a:xfrm>
            <a:off x="9509760" y="4599432"/>
            <a:ext cx="548640" cy="548640"/>
          </a:xfrm>
          <a:prstGeom prst="ellipse">
            <a:avLst/>
          </a:prstGeom>
          <a:solidFill>
            <a:srgbClr val="F2C94C">
              <a:alpha val="82000"/>
            </a:srgbClr>
          </a:solidFill>
          <a:ln w="12700">
            <a:solidFill>
              <a:srgbClr val="F2C94C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1" name="Image 6" descr="/home/claude/icons/trending_F2C94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52406" y="4742078"/>
            <a:ext cx="263347" cy="263347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8183880" y="53035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Projection</a:t>
            </a:r>
            <a:endParaRPr lang="en-US" sz="1250" dirty="0"/>
          </a:p>
        </p:txBody>
      </p:sp>
      <p:sp>
        <p:nvSpPr>
          <p:cNvPr id="33" name="Text 24"/>
          <p:cNvSpPr txBox="1"/>
          <p:nvPr/>
        </p:nvSpPr>
        <p:spPr>
          <a:xfrm>
            <a:off x="502920" y="598932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A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tables feed Databricks SQL for ad-hoc queries and Databricks Dashboards for interactive, decision-ready reporting.</a:t>
            </a:r>
            <a:endParaRPr lang="en-US" sz="1200" dirty="0"/>
          </a:p>
        </p:txBody>
      </p:sp>
      <p:sp>
        <p:nvSpPr>
          <p:cNvPr id="34" name="Text 25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849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CONSUMPTION FORECASTING PIPELINE</a:t>
            </a:r>
            <a:endParaRPr lang="en-US" sz="900" dirty="0"/>
          </a:p>
        </p:txBody>
      </p:sp>
      <p:sp>
        <p:nvSpPr>
          <p:cNvPr id="35" name="Text 26"/>
          <p:cNvSpPr txBox="1"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900">
                <a:solidFill>
                  <a:srgbClr val="8494AE"/>
                </a:solidFill>
                <a:latin typeface="Calibri"/>
              </a:defRPr>
            </a:pPr>
            <a:r>
              <a:rPr lang="en-US" sz="900" dirty="0"/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ANALYTICS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2800" b="1">
                <a:solidFill>
                  <a:srgbClr val="F5F7FA"/>
                </a:solidFill>
                <a:latin typeface="Cambria"/>
              </a:defRPr>
            </a:pPr>
            <a:r>
              <a:t>Dashboards — Forecast &amp; Grid Intelligence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7818120" cy="4846320"/>
          </a:xfrm>
          <a:prstGeom prst="roundRect">
            <a:avLst>
              <a:gd name="adj" fmla="val 2264"/>
            </a:avLst>
          </a:prstGeom>
          <a:solidFill>
            <a:srgbClr val="1B3357">
              <a:alpha val="45000"/>
            </a:srgbClr>
          </a:solidFill>
          <a:ln w="19050">
            <a:solidFill>
              <a:srgbClr val="F2C94C">
                <a:alpha val="80000"/>
              </a:srgbClr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023360" y="3040380"/>
            <a:ext cx="777240" cy="777240"/>
          </a:xfrm>
          <a:prstGeom prst="ellipse">
            <a:avLst/>
          </a:prstGeom>
          <a:solidFill>
            <a:srgbClr val="F2C94C">
              <a:alpha val="82000"/>
            </a:srgbClr>
          </a:solidFill>
          <a:ln w="12700">
            <a:solidFill>
              <a:srgbClr val="F2C94C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/home/claude/icons/monitor_F2C94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0000" y="3242462"/>
            <a:ext cx="373075" cy="37307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840480"/>
            <a:ext cx="7086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4206240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641080" y="1417320"/>
            <a:ext cx="3047695" cy="4846320"/>
          </a:xfrm>
          <a:prstGeom prst="roundRect">
            <a:avLst>
              <a:gd name="adj" fmla="val 3600"/>
            </a:avLst>
          </a:prstGeom>
          <a:solidFill>
            <a:srgbClr val="1B3357">
              <a:alpha val="70000"/>
            </a:srgbClr>
          </a:solidFill>
          <a:ln w="12700">
            <a:solidFill>
              <a:srgbClr val="3D5C8C">
                <a:alpha val="6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7"/>
          <p:cNvSpPr txBox="1"/>
          <p:nvPr/>
        </p:nvSpPr>
        <p:spPr>
          <a:xfrm>
            <a:off x="8915400" y="1645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700" b="1">
                <a:solidFill>
                  <a:srgbClr val="2EC4B6"/>
                </a:solidFill>
                <a:latin typeface="Cambria"/>
              </a:defRPr>
            </a:pPr>
            <a:r>
              <a:t>Key Dashboard Highlights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915400" y="2103120"/>
            <a:ext cx="249905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  <a:defRPr sz="1100">
                <a:solidFill>
                  <a:srgbClr val="AAB8CF"/>
                </a:solidFill>
                <a:latin typeface="Calibri"/>
              </a:defRPr>
            </a:pPr>
            <a:r>
              <a:t>•  Real-time tracking of 1.25M kWh total consumption &amp; 15 kW peak demand</a:t>
            </a:r>
          </a:p>
          <a:p>
            <a:pPr>
              <a:spcAft>
                <a:spcPts val="800"/>
              </a:spcAft>
              <a:defRPr sz="1100">
                <a:solidFill>
                  <a:srgbClr val="AAB8CF"/>
                </a:solidFill>
                <a:latin typeface="Calibri"/>
              </a:defRPr>
            </a:pPr>
            <a:r>
              <a:t>•  Continuous 104.11 kW average grid load with 34.70% capacity utilization</a:t>
            </a:r>
          </a:p>
          <a:p>
            <a:pPr>
              <a:spcAft>
                <a:spcPts val="800"/>
              </a:spcAft>
              <a:defRPr sz="1100">
                <a:solidFill>
                  <a:srgbClr val="AAB8CF"/>
                </a:solidFill>
                <a:latin typeface="Calibri"/>
              </a:defRPr>
            </a:pPr>
            <a:r>
              <a:t>•  Regional Actual vs. Forecasted load comparisons for proactive power dispatch</a:t>
            </a:r>
          </a:p>
          <a:p>
            <a:pPr>
              <a:spcAft>
                <a:spcPts val="800"/>
              </a:spcAft>
              <a:defRPr sz="1100">
                <a:solidFill>
                  <a:srgbClr val="AAB8CF"/>
                </a:solidFill>
                <a:latin typeface="Calibri"/>
              </a:defRPr>
            </a:pPr>
            <a:r>
              <a:t>•  Substation capacity headroom &amp; line loss tracking (5.49% average loss)</a:t>
            </a:r>
          </a:p>
          <a:p>
            <a:pPr>
              <a:spcAft>
                <a:spcPts val="800"/>
              </a:spcAft>
              <a:defRPr sz="1100">
                <a:solidFill>
                  <a:srgbClr val="AAB8CF"/>
                </a:solidFill>
                <a:latin typeface="Calibri"/>
              </a:defRPr>
            </a:pPr>
            <a:r>
              <a:t>•  Device category consumption breakdown &amp; weather-condition impact correlations</a:t>
            </a:r>
          </a:p>
          <a:p>
            <a:pPr>
              <a:spcAft>
                <a:spcPts val="800"/>
              </a:spcAft>
              <a:defRPr sz="1100">
                <a:solidFill>
                  <a:srgbClr val="AAB8CF"/>
                </a:solidFill>
                <a:latin typeface="Calibri"/>
              </a:defRPr>
            </a:pPr>
            <a:r>
              <a:t>•  Governed Databricks SQL dashboards delivering actionable grid intelligence</a:t>
            </a:r>
          </a:p>
        </p:txBody>
      </p:sp>
      <p:sp>
        <p:nvSpPr>
          <p:cNvPr id="12" name="Text 9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849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CONSUMPTION FORECASTING PIPELINE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900">
                <a:solidFill>
                  <a:srgbClr val="8494AE"/>
                </a:solidFill>
                <a:latin typeface="Calibri"/>
              </a:defRPr>
            </a:pPr>
            <a:r>
              <a:t>11</a:t>
            </a:r>
            <a:endParaRPr lang="en-US" sz="900" dirty="0"/>
          </a:p>
        </p:txBody>
      </p:sp>
      <p:pic>
        <p:nvPicPr>
          <p:cNvPr id="14" name="Picture 13" descr="dash_exec_kp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540" y="1500000"/>
            <a:ext cx="7600000" cy="1320000"/>
          </a:xfrm>
          <a:prstGeom prst="rect">
            <a:avLst/>
          </a:prstGeom>
        </p:spPr>
      </p:pic>
      <p:pic>
        <p:nvPicPr>
          <p:cNvPr id="15" name="Picture 14" descr="dash_consumption_tre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540" y="2880000"/>
            <a:ext cx="7600000" cy="1420000"/>
          </a:xfrm>
          <a:prstGeom prst="rect">
            <a:avLst/>
          </a:prstGeom>
        </p:spPr>
      </p:pic>
      <p:pic>
        <p:nvPicPr>
          <p:cNvPr id="16" name="Picture 15" descr="dash_forecast_vs_actu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540" y="4370000"/>
            <a:ext cx="3750000" cy="1750000"/>
          </a:xfrm>
          <a:prstGeom prst="rect">
            <a:avLst/>
          </a:prstGeom>
        </p:spPr>
      </p:pic>
      <p:pic>
        <p:nvPicPr>
          <p:cNvPr id="17" name="Picture 16" descr="dash_substation_capacit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6540" y="4370000"/>
            <a:ext cx="3750000" cy="175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OPERATIONS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Orchestration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25880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A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 DAGs schedule and sequence every stage — Azure Data Factory ingestion, Databricks Bronze → Silver → Gold jobs, and downstream analytics — with dependency-aware execution and automatic retries.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3502152" cy="1965960"/>
          </a:xfrm>
          <a:prstGeom prst="roundRect">
            <a:avLst>
              <a:gd name="adj" fmla="val 5581"/>
            </a:avLst>
          </a:prstGeom>
          <a:solidFill>
            <a:srgbClr val="13294B">
              <a:alpha val="65000"/>
            </a:srgbClr>
          </a:solidFill>
          <a:ln w="12700">
            <a:solidFill>
              <a:srgbClr val="3D5C8C">
                <a:alpha val="6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979676" y="2459736"/>
            <a:ext cx="548640" cy="548640"/>
          </a:xfrm>
          <a:prstGeom prst="ellipse">
            <a:avLst/>
          </a:prstGeom>
          <a:solidFill>
            <a:srgbClr val="F2994A">
              <a:alpha val="82000"/>
            </a:srgbClr>
          </a:solidFill>
          <a:ln w="12700">
            <a:solidFill>
              <a:srgbClr val="F2994A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" name="Image 0" descr="/home/claude/icons/workflow_F299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2322" y="2640788"/>
            <a:ext cx="263347" cy="26334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3154680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</a:rPr>
              <a:t>Airflow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474720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000" dirty="0"/>
              <a:t>Airflow DAG manages and monitors the </a:t>
            </a:r>
            <a:r>
              <a:rPr lang="en-IN" sz="1000" dirty="0" err="1"/>
              <a:t>dbt</a:t>
            </a:r>
            <a:r>
              <a:rPr lang="en-IN" sz="1000" dirty="0"/>
              <a:t> Cloud pipeline execution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178808" y="2148840"/>
            <a:ext cx="3502152" cy="1965960"/>
          </a:xfrm>
          <a:prstGeom prst="roundRect">
            <a:avLst>
              <a:gd name="adj" fmla="val 5581"/>
            </a:avLst>
          </a:prstGeom>
          <a:solidFill>
            <a:srgbClr val="13294B">
              <a:alpha val="65000"/>
            </a:srgbClr>
          </a:solidFill>
          <a:ln w="12700">
            <a:solidFill>
              <a:srgbClr val="3D5C8C">
                <a:alpha val="6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5655564" y="2441448"/>
            <a:ext cx="548640" cy="548640"/>
          </a:xfrm>
          <a:prstGeom prst="ellipse">
            <a:avLst/>
          </a:prstGeom>
          <a:solidFill>
            <a:srgbClr val="F2994A">
              <a:alpha val="82000"/>
            </a:srgbClr>
          </a:solidFill>
          <a:ln w="12700">
            <a:solidFill>
              <a:srgbClr val="F2994A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2" name="Image 1" descr="/home/claude/icons/route_F299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8210" y="2584094"/>
            <a:ext cx="263347" cy="26334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361688" y="3154680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</a:rPr>
              <a:t>DBT Integration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4407408" y="3474720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000" dirty="0"/>
              <a:t>Airflow triggers and monitors </a:t>
            </a:r>
            <a:r>
              <a:rPr lang="en-IN" sz="1000" dirty="0" err="1"/>
              <a:t>dbt</a:t>
            </a:r>
            <a:r>
              <a:rPr lang="en-IN" sz="1000" dirty="0"/>
              <a:t> Cloud transformation jobs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854696" y="2148840"/>
            <a:ext cx="3502152" cy="1965960"/>
          </a:xfrm>
          <a:prstGeom prst="roundRect">
            <a:avLst>
              <a:gd name="adj" fmla="val 5581"/>
            </a:avLst>
          </a:prstGeom>
          <a:solidFill>
            <a:srgbClr val="13294B">
              <a:alpha val="65000"/>
            </a:srgbClr>
          </a:solidFill>
          <a:ln w="12700">
            <a:solidFill>
              <a:srgbClr val="3D5C8C">
                <a:alpha val="6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9331452" y="2441448"/>
            <a:ext cx="548640" cy="548640"/>
          </a:xfrm>
          <a:prstGeom prst="ellipse">
            <a:avLst/>
          </a:prstGeom>
          <a:solidFill>
            <a:srgbClr val="F2994A">
              <a:alpha val="82000"/>
            </a:srgbClr>
          </a:solidFill>
          <a:ln w="12700">
            <a:solidFill>
              <a:srgbClr val="F2994A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7" name="Image 2" descr="/home/claude/icons/bell_F2994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4098" y="2584094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037576" y="3154680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/>
              <a:t>Pipeline Trigger</a:t>
            </a:r>
          </a:p>
        </p:txBody>
      </p:sp>
      <p:sp>
        <p:nvSpPr>
          <p:cNvPr id="19" name="Text 14"/>
          <p:cNvSpPr txBox="1"/>
          <p:nvPr/>
        </p:nvSpPr>
        <p:spPr>
          <a:xfrm>
            <a:off x="8083296" y="3474720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000" dirty="0"/>
              <a:t>Airflow triggers the </a:t>
            </a:r>
            <a:r>
              <a:rPr lang="en-IN" sz="1000" dirty="0" err="1"/>
              <a:t>dbt</a:t>
            </a:r>
            <a:r>
              <a:rPr lang="en-IN" sz="1000" dirty="0"/>
              <a:t> Cloud job and monitors its execution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02920" y="4315968"/>
            <a:ext cx="3502152" cy="1965960"/>
          </a:xfrm>
          <a:prstGeom prst="roundRect">
            <a:avLst>
              <a:gd name="adj" fmla="val 5581"/>
            </a:avLst>
          </a:prstGeom>
          <a:solidFill>
            <a:srgbClr val="13294B">
              <a:alpha val="65000"/>
            </a:srgbClr>
          </a:solidFill>
          <a:ln w="12700">
            <a:solidFill>
              <a:srgbClr val="3D5C8C">
                <a:alpha val="6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6"/>
          <p:cNvSpPr/>
          <p:nvPr/>
        </p:nvSpPr>
        <p:spPr>
          <a:xfrm>
            <a:off x="1979676" y="4608576"/>
            <a:ext cx="548640" cy="548640"/>
          </a:xfrm>
          <a:prstGeom prst="ellipse">
            <a:avLst/>
          </a:prstGeom>
          <a:solidFill>
            <a:srgbClr val="F2994A">
              <a:alpha val="82000"/>
            </a:srgbClr>
          </a:solidFill>
          <a:ln w="12700">
            <a:solidFill>
              <a:srgbClr val="F2994A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2" name="Image 3" descr="/home/claude/icons/heartpulse_F2994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2322" y="4751222"/>
            <a:ext cx="263347" cy="26334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85800" y="5321808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400" b="1" dirty="0"/>
              <a:t>Execution Monitoring</a:t>
            </a:r>
            <a:endParaRPr lang="en-US" sz="1350" b="1" dirty="0"/>
          </a:p>
        </p:txBody>
      </p:sp>
      <p:sp>
        <p:nvSpPr>
          <p:cNvPr id="24" name="Text 18"/>
          <p:cNvSpPr txBox="1"/>
          <p:nvPr/>
        </p:nvSpPr>
        <p:spPr>
          <a:xfrm>
            <a:off x="731520" y="5641848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health checks across every pipeline stage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178808" y="4315968"/>
            <a:ext cx="3502152" cy="1965960"/>
          </a:xfrm>
          <a:prstGeom prst="roundRect">
            <a:avLst>
              <a:gd name="adj" fmla="val 5581"/>
            </a:avLst>
          </a:prstGeom>
          <a:solidFill>
            <a:srgbClr val="13294B">
              <a:alpha val="65000"/>
            </a:srgbClr>
          </a:solidFill>
          <a:ln w="12700">
            <a:solidFill>
              <a:srgbClr val="3D5C8C">
                <a:alpha val="6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20"/>
          <p:cNvSpPr/>
          <p:nvPr/>
        </p:nvSpPr>
        <p:spPr>
          <a:xfrm>
            <a:off x="5655564" y="4608576"/>
            <a:ext cx="548640" cy="548640"/>
          </a:xfrm>
          <a:prstGeom prst="ellipse">
            <a:avLst/>
          </a:prstGeom>
          <a:solidFill>
            <a:srgbClr val="F2994A">
              <a:alpha val="82000"/>
            </a:srgbClr>
          </a:solidFill>
          <a:ln w="12700">
            <a:solidFill>
              <a:srgbClr val="F2994A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7" name="Image 4" descr="/home/claude/icons/archive_F2994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8210" y="4751222"/>
            <a:ext cx="263347" cy="263347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4361688" y="5321808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400" b="1" dirty="0"/>
              <a:t>Deployment Control</a:t>
            </a:r>
            <a:endParaRPr lang="en-US" sz="1350" b="1" dirty="0"/>
          </a:p>
        </p:txBody>
      </p:sp>
      <p:sp>
        <p:nvSpPr>
          <p:cNvPr id="29" name="Text 22"/>
          <p:cNvSpPr txBox="1"/>
          <p:nvPr/>
        </p:nvSpPr>
        <p:spPr>
          <a:xfrm>
            <a:off x="4407408" y="5641848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000" dirty="0"/>
              <a:t>Airflow controls execution of the configured </a:t>
            </a:r>
            <a:r>
              <a:rPr lang="en-IN" sz="1000" dirty="0" err="1"/>
              <a:t>dbt</a:t>
            </a:r>
            <a:r>
              <a:rPr lang="en-IN" sz="1000" dirty="0"/>
              <a:t> Cloud deployment job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854696" y="4315968"/>
            <a:ext cx="3502152" cy="1965960"/>
          </a:xfrm>
          <a:prstGeom prst="roundRect">
            <a:avLst>
              <a:gd name="adj" fmla="val 5581"/>
            </a:avLst>
          </a:prstGeom>
          <a:solidFill>
            <a:srgbClr val="13294B">
              <a:alpha val="65000"/>
            </a:srgbClr>
          </a:solidFill>
          <a:ln w="12700">
            <a:solidFill>
              <a:srgbClr val="3D5C8C">
                <a:alpha val="6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4"/>
          <p:cNvSpPr/>
          <p:nvPr/>
        </p:nvSpPr>
        <p:spPr>
          <a:xfrm>
            <a:off x="9331452" y="4608576"/>
            <a:ext cx="548640" cy="548640"/>
          </a:xfrm>
          <a:prstGeom prst="ellipse">
            <a:avLst/>
          </a:prstGeom>
          <a:solidFill>
            <a:srgbClr val="F2994A">
              <a:alpha val="82000"/>
            </a:srgbClr>
          </a:solidFill>
          <a:ln w="12700">
            <a:solidFill>
              <a:srgbClr val="F2994A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2" name="Image 5" descr="/home/claude/icons/gear_F2994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74098" y="4751222"/>
            <a:ext cx="263347" cy="263347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8037576" y="5321808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 Management</a:t>
            </a:r>
            <a:endParaRPr lang="en-US" sz="1350" dirty="0"/>
          </a:p>
        </p:txBody>
      </p:sp>
      <p:sp>
        <p:nvSpPr>
          <p:cNvPr id="34" name="Text 26"/>
          <p:cNvSpPr txBox="1"/>
          <p:nvPr/>
        </p:nvSpPr>
        <p:spPr>
          <a:xfrm>
            <a:off x="8083296" y="5641848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Centralized, parameterized pipeline configuration</a:t>
            </a:r>
            <a:endParaRPr lang="en-US" sz="1000" dirty="0"/>
          </a:p>
        </p:txBody>
      </p:sp>
      <p:sp>
        <p:nvSpPr>
          <p:cNvPr id="35" name="Text 27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849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CONSUMPTION FORECASTING PIPELINE</a:t>
            </a:r>
            <a:endParaRPr lang="en-US" sz="900" dirty="0"/>
          </a:p>
        </p:txBody>
      </p:sp>
      <p:sp>
        <p:nvSpPr>
          <p:cNvPr id="36" name="Text 28"/>
          <p:cNvSpPr txBox="1"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900">
                <a:solidFill>
                  <a:srgbClr val="8494AE"/>
                </a:solidFill>
                <a:latin typeface="Calibri"/>
              </a:defRPr>
            </a:pPr>
            <a: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02920" y="676656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Alerts, Monitoring &amp; Logging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4937760" cy="4846320"/>
          </a:xfrm>
          <a:prstGeom prst="roundRect">
            <a:avLst>
              <a:gd name="adj" fmla="val 2264"/>
            </a:avLst>
          </a:prstGeom>
          <a:solidFill>
            <a:srgbClr val="2E2450">
              <a:alpha val="65000"/>
            </a:srgbClr>
          </a:solidFill>
          <a:ln w="12700">
            <a:solidFill>
              <a:srgbClr val="3D5C8C">
                <a:alpha val="6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08660" y="1623060"/>
            <a:ext cx="685800" cy="685800"/>
          </a:xfrm>
          <a:prstGeom prst="ellipse">
            <a:avLst/>
          </a:prstGeom>
          <a:solidFill>
            <a:srgbClr val="7C4DFF">
              <a:alpha val="82000"/>
            </a:srgbClr>
          </a:solidFill>
          <a:ln w="12700">
            <a:solidFill>
              <a:srgbClr val="7C4DFF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/home/claude/icons/slack_7C4D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8013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6916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Slack Notifications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0756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A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channel alerts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13816" y="2688336"/>
            <a:ext cx="384048" cy="384048"/>
          </a:xfrm>
          <a:prstGeom prst="ellipse">
            <a:avLst/>
          </a:prstGeom>
          <a:solidFill>
            <a:srgbClr val="7C4DFF">
              <a:alpha val="82000"/>
            </a:srgbClr>
          </a:solidFill>
          <a:ln w="12700">
            <a:solidFill>
              <a:srgbClr val="7C4DFF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0" name="Image 1" descr="/home/claude/icons/bell_7C4D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668" y="2788188"/>
            <a:ext cx="184343" cy="18434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26517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Alerts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813816" y="3346704"/>
            <a:ext cx="384048" cy="384048"/>
          </a:xfrm>
          <a:prstGeom prst="ellipse">
            <a:avLst/>
          </a:prstGeom>
          <a:solidFill>
            <a:srgbClr val="7C4DFF">
              <a:alpha val="82000"/>
            </a:srgbClr>
          </a:solidFill>
          <a:ln w="12700">
            <a:solidFill>
              <a:srgbClr val="7C4DFF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Image 2" descr="/home/claude/icons/bell_7C4D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668" y="3446556"/>
            <a:ext cx="184343" cy="18434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71600" y="33101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Failures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813816" y="4005072"/>
            <a:ext cx="384048" cy="384048"/>
          </a:xfrm>
          <a:prstGeom prst="ellipse">
            <a:avLst/>
          </a:prstGeom>
          <a:solidFill>
            <a:srgbClr val="7C4DFF">
              <a:alpha val="82000"/>
            </a:srgbClr>
          </a:solidFill>
          <a:ln w="12700">
            <a:solidFill>
              <a:srgbClr val="7C4DFF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3" descr="/home/claude/icons/bell_7C4D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668" y="4104924"/>
            <a:ext cx="184343" cy="18434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71600" y="396849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Alerts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813816" y="4663440"/>
            <a:ext cx="384048" cy="384048"/>
          </a:xfrm>
          <a:prstGeom prst="ellipse">
            <a:avLst/>
          </a:prstGeom>
          <a:solidFill>
            <a:srgbClr val="7C4DFF">
              <a:alpha val="82000"/>
            </a:srgbClr>
          </a:solidFill>
          <a:ln w="12700">
            <a:solidFill>
              <a:srgbClr val="7C4DFF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9" name="Image 4" descr="/home/claude/icons/bell_7C4D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668" y="4763292"/>
            <a:ext cx="184343" cy="184343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371600" y="462686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Alerts</a:t>
            </a:r>
            <a:endParaRPr lang="en-US" sz="1350" dirty="0"/>
          </a:p>
        </p:txBody>
      </p:sp>
      <p:sp>
        <p:nvSpPr>
          <p:cNvPr id="21" name="Shape 14"/>
          <p:cNvSpPr/>
          <p:nvPr/>
        </p:nvSpPr>
        <p:spPr>
          <a:xfrm>
            <a:off x="813816" y="5321808"/>
            <a:ext cx="384048" cy="384048"/>
          </a:xfrm>
          <a:prstGeom prst="ellipse">
            <a:avLst/>
          </a:prstGeom>
          <a:solidFill>
            <a:srgbClr val="7C4DFF">
              <a:alpha val="82000"/>
            </a:srgbClr>
          </a:solidFill>
          <a:ln w="12700">
            <a:solidFill>
              <a:srgbClr val="7C4DFF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2" name="Image 5" descr="/home/claude/icons/bell_7C4D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668" y="5421660"/>
            <a:ext cx="184343" cy="184343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371600" y="528523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Summary</a:t>
            </a:r>
            <a:endParaRPr lang="en-US" sz="1350" dirty="0"/>
          </a:p>
        </p:txBody>
      </p:sp>
      <p:sp>
        <p:nvSpPr>
          <p:cNvPr id="24" name="Shape 16"/>
          <p:cNvSpPr/>
          <p:nvPr/>
        </p:nvSpPr>
        <p:spPr>
          <a:xfrm>
            <a:off x="5897880" y="1417320"/>
            <a:ext cx="5790895" cy="4846320"/>
          </a:xfrm>
          <a:prstGeom prst="roundRect">
            <a:avLst>
              <a:gd name="adj" fmla="val 2264"/>
            </a:avLst>
          </a:prstGeom>
          <a:solidFill>
            <a:srgbClr val="1B3357">
              <a:alpha val="70000"/>
            </a:srgbClr>
          </a:solidFill>
          <a:ln w="12700">
            <a:solidFill>
              <a:srgbClr val="3D5C8C">
                <a:alpha val="6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Text 17"/>
          <p:cNvSpPr txBox="1"/>
          <p:nvPr/>
        </p:nvSpPr>
        <p:spPr>
          <a:xfrm>
            <a:off x="6217920" y="1691640"/>
            <a:ext cx="5150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Monitoring &amp; Logging</a:t>
            </a:r>
            <a:endParaRPr lang="en-US" sz="1700" dirty="0"/>
          </a:p>
        </p:txBody>
      </p:sp>
      <p:sp>
        <p:nvSpPr>
          <p:cNvPr id="26" name="Text 18"/>
          <p:cNvSpPr txBox="1"/>
          <p:nvPr/>
        </p:nvSpPr>
        <p:spPr>
          <a:xfrm>
            <a:off x="6217920" y="2286000"/>
            <a:ext cx="515081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300"/>
              </a:spcAft>
              <a:buSzPct val="100000"/>
              <a:buChar char="✦"/>
            </a:pPr>
            <a:r>
              <a:rPr lang="en-US" sz="1250" dirty="0">
                <a:solidFill>
                  <a:srgbClr val="AA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job run monitoring &amp; cluster health tracking</a:t>
            </a:r>
            <a:endParaRPr lang="en-US" sz="1250" dirty="0"/>
          </a:p>
          <a:p>
            <a:pPr marL="203200" indent="-203200">
              <a:spcAft>
                <a:spcPts val="1300"/>
              </a:spcAft>
              <a:buSzPct val="100000"/>
              <a:buChar char="✦"/>
            </a:pPr>
            <a:r>
              <a:rPr lang="en-US" sz="1250" dirty="0">
                <a:solidFill>
                  <a:srgbClr val="AA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Data Factory activity logging across every pipeline run</a:t>
            </a:r>
            <a:endParaRPr lang="en-US" sz="1250" dirty="0"/>
          </a:p>
          <a:p>
            <a:pPr marL="203200" indent="-203200">
              <a:spcAft>
                <a:spcPts val="1300"/>
              </a:spcAft>
              <a:buSzPct val="100000"/>
              <a:buChar char="✦"/>
            </a:pPr>
            <a:r>
              <a:rPr lang="en-US" sz="1250" dirty="0">
                <a:solidFill>
                  <a:srgbClr val="AA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DAG run history for scheduling &amp; retry visibility</a:t>
            </a:r>
            <a:endParaRPr lang="en-US" sz="1250" dirty="0"/>
          </a:p>
          <a:p>
            <a:pPr marL="203200" indent="-203200">
              <a:spcAft>
                <a:spcPts val="1300"/>
              </a:spcAft>
              <a:buSzPct val="100000"/>
              <a:buChar char="✦"/>
            </a:pPr>
            <a:r>
              <a:rPr lang="en-US" sz="1250" dirty="0">
                <a:solidFill>
                  <a:srgbClr val="AA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logs for auditing, debugging &amp; root-cause analysis</a:t>
            </a:r>
            <a:endParaRPr lang="en-US" sz="1250" dirty="0"/>
          </a:p>
          <a:p>
            <a:pPr marL="203200" indent="-203200">
              <a:spcAft>
                <a:spcPts val="1300"/>
              </a:spcAft>
              <a:buSzPct val="100000"/>
              <a:buChar char="✦"/>
            </a:pPr>
            <a:r>
              <a:rPr lang="en-US" sz="1250" dirty="0">
                <a:solidFill>
                  <a:srgbClr val="AA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Threshold-based rules trigger Slack alerts automatically</a:t>
            </a:r>
            <a:endParaRPr lang="en-US" sz="1250" dirty="0"/>
          </a:p>
          <a:p>
            <a:pPr marL="203200" indent="-203200">
              <a:spcAft>
                <a:spcPts val="1300"/>
              </a:spcAft>
              <a:buSzPct val="100000"/>
              <a:buChar char="✦"/>
            </a:pPr>
            <a:r>
              <a:rPr lang="en-US" sz="1250" dirty="0">
                <a:solidFill>
                  <a:srgbClr val="AA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summary digest posted for stakeholder visibility</a:t>
            </a:r>
            <a:endParaRPr lang="en-US" sz="1250" dirty="0"/>
          </a:p>
        </p:txBody>
      </p:sp>
      <p:sp>
        <p:nvSpPr>
          <p:cNvPr id="27" name="Text 19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849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CONSUMPTION FORECASTING PIPELINE</a:t>
            </a:r>
            <a:endParaRPr lang="en-US" sz="900" dirty="0"/>
          </a:p>
        </p:txBody>
      </p:sp>
      <p:sp>
        <p:nvSpPr>
          <p:cNvPr id="28" name="Text 20"/>
          <p:cNvSpPr txBox="1"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900">
                <a:solidFill>
                  <a:srgbClr val="8494AE"/>
                </a:solidFill>
                <a:latin typeface="Calibri"/>
              </a:defRPr>
            </a:pPr>
            <a: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VALUE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Impact &amp; Outcomes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2588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governed, forecast-ready view of energy demand enables faster, more confident decisions — from grid load balancing to cost planning.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2615184" cy="1417320"/>
          </a:xfrm>
          <a:prstGeom prst="roundRect">
            <a:avLst>
              <a:gd name="adj" fmla="val 7742"/>
            </a:avLst>
          </a:prstGeom>
          <a:solidFill>
            <a:srgbClr val="13294B">
              <a:alpha val="65000"/>
            </a:srgbClr>
          </a:solidFill>
          <a:ln w="12700">
            <a:solidFill>
              <a:srgbClr val="3D5C8C">
                <a:alpha val="6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554480" y="2258568"/>
            <a:ext cx="512064" cy="512064"/>
          </a:xfrm>
          <a:prstGeom prst="ellipse">
            <a:avLst/>
          </a:prstGeom>
          <a:solidFill>
            <a:srgbClr val="F2C94C">
              <a:alpha val="82000"/>
            </a:srgbClr>
          </a:solidFill>
          <a:ln w="12700">
            <a:solidFill>
              <a:srgbClr val="F2C94C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" name="Image 0" descr="/home/claude/icons/barchart_F2C94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617" y="2391705"/>
            <a:ext cx="245791" cy="24579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2907792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Trends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64408" y="2011680"/>
            <a:ext cx="2615184" cy="1417320"/>
          </a:xfrm>
          <a:prstGeom prst="roundRect">
            <a:avLst>
              <a:gd name="adj" fmla="val 7742"/>
            </a:avLst>
          </a:prstGeom>
          <a:solidFill>
            <a:srgbClr val="13294B">
              <a:alpha val="65000"/>
            </a:srgbClr>
          </a:solidFill>
          <a:ln w="12700">
            <a:solidFill>
              <a:srgbClr val="3D5C8C">
                <a:alpha val="6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4315968" y="2258568"/>
            <a:ext cx="512064" cy="512064"/>
          </a:xfrm>
          <a:prstGeom prst="ellipse">
            <a:avLst/>
          </a:prstGeom>
          <a:solidFill>
            <a:srgbClr val="F2C94C">
              <a:alpha val="82000"/>
            </a:srgbClr>
          </a:solidFill>
          <a:ln w="12700">
            <a:solidFill>
              <a:srgbClr val="F2C94C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1" descr="/home/claude/icons/trending_F2C94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9105" y="2391705"/>
            <a:ext cx="245791" cy="24579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01568" y="2907792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Demand Forecasting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025896" y="2011680"/>
            <a:ext cx="2615184" cy="1417320"/>
          </a:xfrm>
          <a:prstGeom prst="roundRect">
            <a:avLst>
              <a:gd name="adj" fmla="val 7742"/>
            </a:avLst>
          </a:prstGeom>
          <a:solidFill>
            <a:srgbClr val="13294B">
              <a:alpha val="65000"/>
            </a:srgbClr>
          </a:solidFill>
          <a:ln w="12700">
            <a:solidFill>
              <a:srgbClr val="3D5C8C">
                <a:alpha val="6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0"/>
          <p:cNvSpPr/>
          <p:nvPr/>
        </p:nvSpPr>
        <p:spPr>
          <a:xfrm>
            <a:off x="7077456" y="2258568"/>
            <a:ext cx="512064" cy="512064"/>
          </a:xfrm>
          <a:prstGeom prst="ellipse">
            <a:avLst/>
          </a:prstGeom>
          <a:solidFill>
            <a:srgbClr val="F2C94C">
              <a:alpha val="82000"/>
            </a:srgbClr>
          </a:solidFill>
          <a:ln w="12700">
            <a:solidFill>
              <a:srgbClr val="F2C94C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Image 2" descr="/home/claude/icons/monitor_F2C94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0593" y="2391705"/>
            <a:ext cx="245791" cy="24579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163056" y="2907792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Analytics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8787384" y="2011680"/>
            <a:ext cx="2615184" cy="1417320"/>
          </a:xfrm>
          <a:prstGeom prst="roundRect">
            <a:avLst>
              <a:gd name="adj" fmla="val 7742"/>
            </a:avLst>
          </a:prstGeom>
          <a:solidFill>
            <a:srgbClr val="13294B">
              <a:alpha val="65000"/>
            </a:srgbClr>
          </a:solidFill>
          <a:ln w="12700">
            <a:solidFill>
              <a:srgbClr val="3D5C8C">
                <a:alpha val="6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3"/>
          <p:cNvSpPr/>
          <p:nvPr/>
        </p:nvSpPr>
        <p:spPr>
          <a:xfrm>
            <a:off x="9838944" y="2258568"/>
            <a:ext cx="512064" cy="512064"/>
          </a:xfrm>
          <a:prstGeom prst="ellipse">
            <a:avLst/>
          </a:prstGeom>
          <a:solidFill>
            <a:srgbClr val="F2C94C">
              <a:alpha val="82000"/>
            </a:srgbClr>
          </a:solidFill>
          <a:ln w="12700">
            <a:solidFill>
              <a:srgbClr val="F2C94C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9" name="Image 3" descr="/home/claude/icons/cloudsun_F2C94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72081" y="2391705"/>
            <a:ext cx="245791" cy="245791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924544" y="2907792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Impact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02920" y="3593592"/>
            <a:ext cx="2615184" cy="1417320"/>
          </a:xfrm>
          <a:prstGeom prst="roundRect">
            <a:avLst>
              <a:gd name="adj" fmla="val 7742"/>
            </a:avLst>
          </a:prstGeom>
          <a:solidFill>
            <a:srgbClr val="13294B">
              <a:alpha val="65000"/>
            </a:srgbClr>
          </a:solidFill>
          <a:ln w="12700">
            <a:solidFill>
              <a:srgbClr val="3D5C8C">
                <a:alpha val="6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16"/>
          <p:cNvSpPr/>
          <p:nvPr/>
        </p:nvSpPr>
        <p:spPr>
          <a:xfrm>
            <a:off x="1554480" y="3840480"/>
            <a:ext cx="512064" cy="512064"/>
          </a:xfrm>
          <a:prstGeom prst="ellipse">
            <a:avLst/>
          </a:prstGeom>
          <a:solidFill>
            <a:srgbClr val="F2C94C">
              <a:alpha val="82000"/>
            </a:srgbClr>
          </a:solidFill>
          <a:ln w="12700">
            <a:solidFill>
              <a:srgbClr val="F2C94C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3" name="Image 4" descr="/home/claude/icons/bolt_F2C94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7617" y="3973617"/>
            <a:ext cx="245791" cy="245791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40080" y="4489704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Analytics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3264408" y="3593592"/>
            <a:ext cx="2615184" cy="1417320"/>
          </a:xfrm>
          <a:prstGeom prst="roundRect">
            <a:avLst>
              <a:gd name="adj" fmla="val 7742"/>
            </a:avLst>
          </a:prstGeom>
          <a:solidFill>
            <a:srgbClr val="13294B">
              <a:alpha val="65000"/>
            </a:srgbClr>
          </a:solidFill>
          <a:ln w="12700">
            <a:solidFill>
              <a:srgbClr val="3D5C8C">
                <a:alpha val="6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19"/>
          <p:cNvSpPr/>
          <p:nvPr/>
        </p:nvSpPr>
        <p:spPr>
          <a:xfrm>
            <a:off x="4315968" y="3840480"/>
            <a:ext cx="512064" cy="512064"/>
          </a:xfrm>
          <a:prstGeom prst="ellipse">
            <a:avLst/>
          </a:prstGeom>
          <a:solidFill>
            <a:srgbClr val="F2C94C">
              <a:alpha val="82000"/>
            </a:srgbClr>
          </a:solidFill>
          <a:ln w="12700">
            <a:solidFill>
              <a:srgbClr val="F2C94C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7" name="Image 5" descr="/home/claude/icons/dollar_F2C94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9105" y="3973617"/>
            <a:ext cx="245791" cy="245791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3401568" y="4489704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Analytics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6025896" y="3593592"/>
            <a:ext cx="2615184" cy="1417320"/>
          </a:xfrm>
          <a:prstGeom prst="roundRect">
            <a:avLst>
              <a:gd name="adj" fmla="val 7742"/>
            </a:avLst>
          </a:prstGeom>
          <a:solidFill>
            <a:srgbClr val="13294B">
              <a:alpha val="65000"/>
            </a:srgbClr>
          </a:solidFill>
          <a:ln w="12700">
            <a:solidFill>
              <a:srgbClr val="3D5C8C">
                <a:alpha val="6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Shape 22"/>
          <p:cNvSpPr/>
          <p:nvPr/>
        </p:nvSpPr>
        <p:spPr>
          <a:xfrm>
            <a:off x="7077456" y="3840480"/>
            <a:ext cx="512064" cy="512064"/>
          </a:xfrm>
          <a:prstGeom prst="ellipse">
            <a:avLst/>
          </a:prstGeom>
          <a:solidFill>
            <a:srgbClr val="F2C94C">
              <a:alpha val="82000"/>
            </a:srgbClr>
          </a:solidFill>
          <a:ln w="12700">
            <a:solidFill>
              <a:srgbClr val="F2C94C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1" name="Image 6" descr="/home/claude/icons/clock_F2C94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10593" y="3973617"/>
            <a:ext cx="245791" cy="245791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6163056" y="4489704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Projection</a:t>
            </a:r>
            <a:endParaRPr lang="en-US" sz="1100" dirty="0"/>
          </a:p>
        </p:txBody>
      </p:sp>
      <p:sp>
        <p:nvSpPr>
          <p:cNvPr id="33" name="Shape 24"/>
          <p:cNvSpPr/>
          <p:nvPr/>
        </p:nvSpPr>
        <p:spPr>
          <a:xfrm>
            <a:off x="8787384" y="3593592"/>
            <a:ext cx="2615184" cy="1417320"/>
          </a:xfrm>
          <a:prstGeom prst="roundRect">
            <a:avLst>
              <a:gd name="adj" fmla="val 7742"/>
            </a:avLst>
          </a:prstGeom>
          <a:solidFill>
            <a:srgbClr val="13294B">
              <a:alpha val="65000"/>
            </a:srgbClr>
          </a:solidFill>
          <a:ln w="12700">
            <a:solidFill>
              <a:srgbClr val="3D5C8C">
                <a:alpha val="6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4" name="Shape 25"/>
          <p:cNvSpPr/>
          <p:nvPr/>
        </p:nvSpPr>
        <p:spPr>
          <a:xfrm>
            <a:off x="9838944" y="3840480"/>
            <a:ext cx="512064" cy="512064"/>
          </a:xfrm>
          <a:prstGeom prst="ellipse">
            <a:avLst/>
          </a:prstGeom>
          <a:solidFill>
            <a:srgbClr val="F2C94C">
              <a:alpha val="82000"/>
            </a:srgbClr>
          </a:solidFill>
          <a:ln w="12700">
            <a:solidFill>
              <a:srgbClr val="F2C94C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5" name="Image 7" descr="/home/claude/icons/shield_F2C94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72081" y="3973617"/>
            <a:ext cx="245791" cy="245791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8924544" y="4489704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Overview</a:t>
            </a:r>
            <a:endParaRPr lang="en-US" sz="1100" dirty="0"/>
          </a:p>
        </p:txBody>
      </p:sp>
      <p:sp>
        <p:nvSpPr>
          <p:cNvPr id="37" name="Shape 27"/>
          <p:cNvSpPr/>
          <p:nvPr/>
        </p:nvSpPr>
        <p:spPr>
          <a:xfrm>
            <a:off x="502920" y="5440680"/>
            <a:ext cx="11185855" cy="868680"/>
          </a:xfrm>
          <a:prstGeom prst="roundRect">
            <a:avLst>
              <a:gd name="adj" fmla="val 12632"/>
            </a:avLst>
          </a:prstGeom>
          <a:solidFill>
            <a:srgbClr val="1B3357">
              <a:alpha val="75000"/>
            </a:srgbClr>
          </a:solidFill>
          <a:ln w="12700">
            <a:solidFill>
              <a:srgbClr val="3D5C8C">
                <a:alpha val="6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8" name="Text 28"/>
          <p:cNvSpPr txBox="1"/>
          <p:nvPr/>
        </p:nvSpPr>
        <p:spPr>
          <a:xfrm>
            <a:off x="822960" y="5504688"/>
            <a:ext cx="1054577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optimized grid load balancing, proactive cost &amp; tariff planning, improved forecasting accuracy, and faster decision-making — all on a scalable, fully Azure-native architecture.</a:t>
            </a:r>
            <a:endParaRPr lang="en-US" sz="1250" dirty="0"/>
          </a:p>
        </p:txBody>
      </p:sp>
      <p:sp>
        <p:nvSpPr>
          <p:cNvPr id="39" name="Text 29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849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CONSUMPTION FORECASTING PIPELINE</a:t>
            </a:r>
            <a:endParaRPr lang="en-US" sz="900" dirty="0"/>
          </a:p>
        </p:txBody>
      </p:sp>
      <p:sp>
        <p:nvSpPr>
          <p:cNvPr id="40" name="Text 30"/>
          <p:cNvSpPr txBox="1"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900">
                <a:solidFill>
                  <a:srgbClr val="8494AE"/>
                </a:solidFill>
                <a:latin typeface="Calibri"/>
              </a:defRPr>
            </a:pPr>
            <a:r>
              <a:rPr dirty="0"/>
              <a:t>1</a:t>
            </a:r>
            <a:r>
              <a:rPr lang="en-US" dirty="0"/>
              <a:t>4</a:t>
            </a:r>
          </a:p>
          <a:p>
            <a:pPr marL="0" indent="0" algn="r">
              <a:buNone/>
              <a:defRPr sz="900">
                <a:solidFill>
                  <a:srgbClr val="8494AE"/>
                </a:solidFill>
                <a:latin typeface="Calibri"/>
              </a:defRPr>
            </a:pP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46888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0" y="34290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86988" y="4023360"/>
            <a:ext cx="548640" cy="548640"/>
          </a:xfrm>
          <a:prstGeom prst="ellipse">
            <a:avLst/>
          </a:prstGeom>
          <a:solidFill>
            <a:srgbClr val="F2994A">
              <a:alpha val="82000"/>
            </a:srgbClr>
          </a:solidFill>
          <a:ln w="12700">
            <a:solidFill>
              <a:srgbClr val="F2994A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/home/claude/icons/bolt_F299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9634" y="4166006"/>
            <a:ext cx="263347" cy="26334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655668" y="4023360"/>
            <a:ext cx="548640" cy="548640"/>
          </a:xfrm>
          <a:prstGeom prst="ellipse">
            <a:avLst/>
          </a:prstGeom>
          <a:solidFill>
            <a:srgbClr val="2EC4B6">
              <a:alpha val="82000"/>
            </a:srgbClr>
          </a:solidFill>
          <a:ln w="12700">
            <a:solidFill>
              <a:srgbClr val="2EC4B6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" name="Image 1" descr="/home/claude/icons/database_2EC4B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8314" y="4166006"/>
            <a:ext cx="263347" cy="263347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524348" y="4023360"/>
            <a:ext cx="548640" cy="548640"/>
          </a:xfrm>
          <a:prstGeom prst="ellipse">
            <a:avLst/>
          </a:prstGeom>
          <a:solidFill>
            <a:srgbClr val="F2C94C">
              <a:alpha val="82000"/>
            </a:srgbClr>
          </a:solidFill>
          <a:ln w="12700">
            <a:solidFill>
              <a:srgbClr val="F2C94C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2" descr="/home/claude/icons/chartline_F2C94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6994" y="4166006"/>
            <a:ext cx="263347" cy="263347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393028" y="4023360"/>
            <a:ext cx="548640" cy="548640"/>
          </a:xfrm>
          <a:prstGeom prst="ellipse">
            <a:avLst/>
          </a:prstGeom>
          <a:solidFill>
            <a:srgbClr val="7C4DFF">
              <a:alpha val="82000"/>
            </a:srgbClr>
          </a:solidFill>
          <a:ln w="12700">
            <a:solidFill>
              <a:srgbClr val="7C4DFF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3" descr="/home/claude/icons/cloud_7C4D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5674" y="4166006"/>
            <a:ext cx="263347" cy="263347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7261708" y="4023360"/>
            <a:ext cx="548640" cy="548640"/>
          </a:xfrm>
          <a:prstGeom prst="ellipse">
            <a:avLst/>
          </a:prstGeom>
          <a:solidFill>
            <a:srgbClr val="E85D4A">
              <a:alpha val="82000"/>
            </a:srgbClr>
          </a:solidFill>
          <a:ln w="12700">
            <a:solidFill>
              <a:srgbClr val="E85D4A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Image 4" descr="/home/claude/icons/slack_E85D4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4354" y="4166006"/>
            <a:ext cx="263347" cy="263347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-165507" y="59893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49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Consumption Forecasting Pipeline  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136</TotalTime>
  <Words>1635</Words>
  <Application>Microsoft Office PowerPoint</Application>
  <PresentationFormat>Widescreen</PresentationFormat>
  <Paragraphs>258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Maneendra Kummari</cp:lastModifiedBy>
  <cp:revision>9</cp:revision>
  <dcterms:created xsi:type="dcterms:W3CDTF">2026-09-04T11:00:17Z</dcterms:created>
  <dcterms:modified xsi:type="dcterms:W3CDTF">2026-09-12T07:55:10Z</dcterms:modified>
</cp:coreProperties>
</file>